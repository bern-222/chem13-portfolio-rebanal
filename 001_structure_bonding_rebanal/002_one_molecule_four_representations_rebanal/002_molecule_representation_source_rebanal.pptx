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693400" cy="7556500"/>
  <p:notesSz cx="6858000" cy="9144000"/>
  <p:embeddedFontLst>
    <p:embeddedFont>
      <p:font typeface="Helvetica" panose="020B0604020202020204" pitchFamily="34" charset="0"/>
      <p:regular r:id="rId12"/>
      <p:bold r:id="rId13"/>
      <p:italic r:id="rId14"/>
      <p:boldItalic r:id="rId15"/>
    </p:embeddedFont>
    <p:embeddedFont>
      <p:font typeface="Helvetica Bold" panose="020B0604020202020204" charset="0"/>
      <p:regular r:id="rId16"/>
    </p:embeddedFont>
    <p:embeddedFont>
      <p:font typeface="Helvetica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144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589" y="7128836"/>
            <a:ext cx="9476471" cy="267567"/>
            <a:chOff x="0" y="0"/>
            <a:chExt cx="3396153" cy="95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6153" cy="95890"/>
            </a:xfrm>
            <a:custGeom>
              <a:avLst/>
              <a:gdLst/>
              <a:ahLst/>
              <a:cxnLst/>
              <a:rect l="l" t="t" r="r" b="b"/>
              <a:pathLst>
                <a:path w="3396153" h="95890">
                  <a:moveTo>
                    <a:pt x="0" y="0"/>
                  </a:moveTo>
                  <a:lnTo>
                    <a:pt x="3396153" y="0"/>
                  </a:lnTo>
                  <a:lnTo>
                    <a:pt x="3396153" y="95890"/>
                  </a:lnTo>
                  <a:lnTo>
                    <a:pt x="0" y="9589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96153" cy="133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81286" y="6914001"/>
            <a:ext cx="1695142" cy="506827"/>
            <a:chOff x="0" y="0"/>
            <a:chExt cx="986654" cy="2949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86654" cy="294998"/>
            </a:xfrm>
            <a:custGeom>
              <a:avLst/>
              <a:gdLst/>
              <a:ahLst/>
              <a:cxnLst/>
              <a:rect l="l" t="t" r="r" b="b"/>
              <a:pathLst>
                <a:path w="986654" h="294998">
                  <a:moveTo>
                    <a:pt x="0" y="0"/>
                  </a:moveTo>
                  <a:lnTo>
                    <a:pt x="986654" y="0"/>
                  </a:lnTo>
                  <a:lnTo>
                    <a:pt x="986654" y="294998"/>
                  </a:lnTo>
                  <a:lnTo>
                    <a:pt x="0" y="29499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86654" cy="30452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80082" y="6914001"/>
            <a:ext cx="1855425" cy="469297"/>
            <a:chOff x="0" y="0"/>
            <a:chExt cx="1079947" cy="2731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947" cy="273154"/>
            </a:xfrm>
            <a:custGeom>
              <a:avLst/>
              <a:gdLst/>
              <a:ahLst/>
              <a:cxnLst/>
              <a:rect l="l" t="t" r="r" b="b"/>
              <a:pathLst>
                <a:path w="1079947" h="273154">
                  <a:moveTo>
                    <a:pt x="0" y="0"/>
                  </a:moveTo>
                  <a:lnTo>
                    <a:pt x="1079947" y="0"/>
                  </a:lnTo>
                  <a:lnTo>
                    <a:pt x="1079947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79947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35532" y="6914001"/>
            <a:ext cx="2457309" cy="469297"/>
            <a:chOff x="0" y="0"/>
            <a:chExt cx="1430273" cy="2731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30273" cy="273154"/>
            </a:xfrm>
            <a:custGeom>
              <a:avLst/>
              <a:gdLst/>
              <a:ahLst/>
              <a:cxnLst/>
              <a:rect l="l" t="t" r="r" b="b"/>
              <a:pathLst>
                <a:path w="1430273" h="273154">
                  <a:moveTo>
                    <a:pt x="0" y="0"/>
                  </a:moveTo>
                  <a:lnTo>
                    <a:pt x="1430273" y="0"/>
                  </a:lnTo>
                  <a:lnTo>
                    <a:pt x="1430273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430273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78098" y="6906516"/>
            <a:ext cx="1516234" cy="484269"/>
            <a:chOff x="0" y="0"/>
            <a:chExt cx="882522" cy="2818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2522" cy="281868"/>
            </a:xfrm>
            <a:custGeom>
              <a:avLst/>
              <a:gdLst/>
              <a:ahLst/>
              <a:cxnLst/>
              <a:rect l="l" t="t" r="r" b="b"/>
              <a:pathLst>
                <a:path w="882522" h="281868">
                  <a:moveTo>
                    <a:pt x="0" y="0"/>
                  </a:moveTo>
                  <a:lnTo>
                    <a:pt x="882522" y="0"/>
                  </a:lnTo>
                  <a:lnTo>
                    <a:pt x="882522" y="281868"/>
                  </a:lnTo>
                  <a:lnTo>
                    <a:pt x="0" y="28186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882522" cy="29139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203695" y="7298929"/>
            <a:ext cx="11099389" cy="821606"/>
            <a:chOff x="0" y="0"/>
            <a:chExt cx="7711097" cy="5707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711098" cy="570795"/>
            </a:xfrm>
            <a:custGeom>
              <a:avLst/>
              <a:gdLst/>
              <a:ahLst/>
              <a:cxnLst/>
              <a:rect l="l" t="t" r="r" b="b"/>
              <a:pathLst>
                <a:path w="7711098" h="570795">
                  <a:moveTo>
                    <a:pt x="0" y="0"/>
                  </a:moveTo>
                  <a:lnTo>
                    <a:pt x="7711098" y="0"/>
                  </a:lnTo>
                  <a:lnTo>
                    <a:pt x="7711098" y="570795"/>
                  </a:lnTo>
                  <a:lnTo>
                    <a:pt x="0" y="570795"/>
                  </a:lnTo>
                  <a:close/>
                </a:path>
              </a:pathLst>
            </a:custGeom>
            <a:solidFill>
              <a:srgbClr val="1800AD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711097" cy="589845"/>
            </a:xfrm>
            <a:prstGeom prst="rect">
              <a:avLst/>
            </a:prstGeom>
          </p:spPr>
          <p:txBody>
            <a:bodyPr lIns="26205" tIns="26205" rIns="26205" bIns="26205" rtlCol="0" anchor="ctr"/>
            <a:lstStyle/>
            <a:p>
              <a:pPr algn="ctr">
                <a:lnSpc>
                  <a:spcPts val="101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2016451" y="7006951"/>
            <a:ext cx="3998045" cy="313443"/>
            <a:chOff x="0" y="0"/>
            <a:chExt cx="2346804" cy="1839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46804" cy="183987"/>
            </a:xfrm>
            <a:custGeom>
              <a:avLst/>
              <a:gdLst/>
              <a:ahLst/>
              <a:cxnLst/>
              <a:rect l="l" t="t" r="r" b="b"/>
              <a:pathLst>
                <a:path w="2346804" h="183987">
                  <a:moveTo>
                    <a:pt x="203200" y="0"/>
                  </a:moveTo>
                  <a:lnTo>
                    <a:pt x="2143604" y="0"/>
                  </a:lnTo>
                  <a:lnTo>
                    <a:pt x="2346804" y="183987"/>
                  </a:lnTo>
                  <a:lnTo>
                    <a:pt x="0" y="18398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27000" y="-38100"/>
              <a:ext cx="2092804" cy="222087"/>
            </a:xfrm>
            <a:prstGeom prst="rect">
              <a:avLst/>
            </a:prstGeom>
          </p:spPr>
          <p:txBody>
            <a:bodyPr lIns="72901" tIns="72901" rIns="72901" bIns="72901" rtlCol="0" anchor="ctr"/>
            <a:lstStyle/>
            <a:p>
              <a:pPr algn="ctr">
                <a:lnSpc>
                  <a:spcPts val="180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799" y="1725825"/>
            <a:ext cx="4432173" cy="2319703"/>
            <a:chOff x="0" y="0"/>
            <a:chExt cx="2579739" cy="135017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8144" y="1657885"/>
            <a:ext cx="135310" cy="135879"/>
            <a:chOff x="0" y="0"/>
            <a:chExt cx="48492" cy="486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8144" y="3977588"/>
            <a:ext cx="135310" cy="135879"/>
            <a:chOff x="0" y="0"/>
            <a:chExt cx="48492" cy="486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000317" y="3977588"/>
            <a:ext cx="135310" cy="135879"/>
            <a:chOff x="0" y="0"/>
            <a:chExt cx="48492" cy="4869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000317" y="1657885"/>
            <a:ext cx="135310" cy="135879"/>
            <a:chOff x="0" y="0"/>
            <a:chExt cx="48492" cy="4869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24028" y="1725216"/>
            <a:ext cx="4432173" cy="2319094"/>
            <a:chOff x="0" y="0"/>
            <a:chExt cx="2579739" cy="134982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56374" y="1656668"/>
            <a:ext cx="135310" cy="137096"/>
            <a:chOff x="0" y="0"/>
            <a:chExt cx="48492" cy="4913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56374" y="3976371"/>
            <a:ext cx="135310" cy="137096"/>
            <a:chOff x="0" y="0"/>
            <a:chExt cx="48492" cy="4913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988546" y="3975154"/>
            <a:ext cx="135310" cy="137096"/>
            <a:chOff x="0" y="0"/>
            <a:chExt cx="48492" cy="4913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988546" y="1656668"/>
            <a:ext cx="135310" cy="137096"/>
            <a:chOff x="0" y="0"/>
            <a:chExt cx="48492" cy="4913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35799" y="4333136"/>
            <a:ext cx="4432173" cy="2319703"/>
            <a:chOff x="0" y="0"/>
            <a:chExt cx="2579739" cy="135017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8144" y="4265196"/>
            <a:ext cx="135310" cy="135879"/>
            <a:chOff x="0" y="0"/>
            <a:chExt cx="48492" cy="4869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8144" y="6584899"/>
            <a:ext cx="135310" cy="135879"/>
            <a:chOff x="0" y="0"/>
            <a:chExt cx="48492" cy="4869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000317" y="6584899"/>
            <a:ext cx="135310" cy="135879"/>
            <a:chOff x="0" y="0"/>
            <a:chExt cx="48492" cy="486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000317" y="4265196"/>
            <a:ext cx="135310" cy="135879"/>
            <a:chOff x="0" y="0"/>
            <a:chExt cx="48492" cy="4869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24028" y="4332527"/>
            <a:ext cx="4432173" cy="2319094"/>
            <a:chOff x="0" y="0"/>
            <a:chExt cx="2579739" cy="134982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556374" y="4263979"/>
            <a:ext cx="135310" cy="137096"/>
            <a:chOff x="0" y="0"/>
            <a:chExt cx="48492" cy="4913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556374" y="6583682"/>
            <a:ext cx="135310" cy="137096"/>
            <a:chOff x="0" y="0"/>
            <a:chExt cx="48492" cy="4913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988546" y="6582465"/>
            <a:ext cx="135310" cy="137096"/>
            <a:chOff x="0" y="0"/>
            <a:chExt cx="48492" cy="4913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988546" y="4263979"/>
            <a:ext cx="135310" cy="137096"/>
            <a:chOff x="0" y="0"/>
            <a:chExt cx="48492" cy="4913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783084" y="233256"/>
            <a:ext cx="7125832" cy="1237675"/>
            <a:chOff x="0" y="0"/>
            <a:chExt cx="2553737" cy="44355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553737" cy="443555"/>
            </a:xfrm>
            <a:custGeom>
              <a:avLst/>
              <a:gdLst/>
              <a:ahLst/>
              <a:cxnLst/>
              <a:rect l="l" t="t" r="r" b="b"/>
              <a:pathLst>
                <a:path w="2553737" h="443555">
                  <a:moveTo>
                    <a:pt x="0" y="0"/>
                  </a:moveTo>
                  <a:lnTo>
                    <a:pt x="2553737" y="0"/>
                  </a:lnTo>
                  <a:lnTo>
                    <a:pt x="2553737" y="443555"/>
                  </a:lnTo>
                  <a:lnTo>
                    <a:pt x="0" y="443555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2553737" cy="481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2180483" y="7030880"/>
            <a:ext cx="169006" cy="173795"/>
            <a:chOff x="0" y="0"/>
            <a:chExt cx="60568" cy="6228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4066114" y="7028958"/>
            <a:ext cx="169006" cy="173795"/>
            <a:chOff x="0" y="0"/>
            <a:chExt cx="60568" cy="6228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856282" y="7033522"/>
            <a:ext cx="169006" cy="173795"/>
            <a:chOff x="0" y="0"/>
            <a:chExt cx="60568" cy="6228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7902207" y="7036159"/>
            <a:ext cx="169006" cy="173795"/>
            <a:chOff x="0" y="0"/>
            <a:chExt cx="60568" cy="62284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sp>
        <p:nvSpPr>
          <p:cNvPr id="98" name="TextBox 98"/>
          <p:cNvSpPr txBox="1"/>
          <p:nvPr/>
        </p:nvSpPr>
        <p:spPr>
          <a:xfrm>
            <a:off x="804338" y="1747356"/>
            <a:ext cx="252212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01 MOLECULAR FORMULA</a:t>
            </a:r>
          </a:p>
        </p:txBody>
      </p:sp>
      <p:sp>
        <p:nvSpPr>
          <p:cNvPr id="99" name="AutoShape 99"/>
          <p:cNvSpPr/>
          <p:nvPr/>
        </p:nvSpPr>
        <p:spPr>
          <a:xfrm flipV="1">
            <a:off x="804338" y="2023581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0" name="AutoShape 100"/>
          <p:cNvSpPr/>
          <p:nvPr/>
        </p:nvSpPr>
        <p:spPr>
          <a:xfrm flipV="1">
            <a:off x="5818849" y="2031889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1" name="AutoShape 101"/>
          <p:cNvSpPr/>
          <p:nvPr/>
        </p:nvSpPr>
        <p:spPr>
          <a:xfrm flipV="1">
            <a:off x="810017" y="4666554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" name="AutoShape 102"/>
          <p:cNvSpPr/>
          <p:nvPr/>
        </p:nvSpPr>
        <p:spPr>
          <a:xfrm flipV="1">
            <a:off x="5818854" y="4655812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" name="Freeform 103"/>
          <p:cNvSpPr/>
          <p:nvPr/>
        </p:nvSpPr>
        <p:spPr>
          <a:xfrm>
            <a:off x="6183256" y="2060464"/>
            <a:ext cx="3351210" cy="1953439"/>
          </a:xfrm>
          <a:custGeom>
            <a:avLst/>
            <a:gdLst/>
            <a:ahLst/>
            <a:cxnLst/>
            <a:rect l="l" t="t" r="r" b="b"/>
            <a:pathLst>
              <a:path w="3351210" h="1953439">
                <a:moveTo>
                  <a:pt x="0" y="0"/>
                </a:moveTo>
                <a:lnTo>
                  <a:pt x="3351211" y="0"/>
                </a:lnTo>
                <a:lnTo>
                  <a:pt x="3351211" y="1953439"/>
                </a:lnTo>
                <a:lnTo>
                  <a:pt x="0" y="19534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52" t="-59325" r="-21423" b="-60808"/>
            </a:stretch>
          </a:blipFill>
        </p:spPr>
      </p:sp>
      <p:sp>
        <p:nvSpPr>
          <p:cNvPr id="104" name="Freeform 104"/>
          <p:cNvSpPr/>
          <p:nvPr/>
        </p:nvSpPr>
        <p:spPr>
          <a:xfrm>
            <a:off x="6935115" y="5255887"/>
            <a:ext cx="1934184" cy="861533"/>
          </a:xfrm>
          <a:custGeom>
            <a:avLst/>
            <a:gdLst/>
            <a:ahLst/>
            <a:cxnLst/>
            <a:rect l="l" t="t" r="r" b="b"/>
            <a:pathLst>
              <a:path w="1934184" h="861533">
                <a:moveTo>
                  <a:pt x="0" y="0"/>
                </a:moveTo>
                <a:lnTo>
                  <a:pt x="1934184" y="0"/>
                </a:lnTo>
                <a:lnTo>
                  <a:pt x="1934184" y="861533"/>
                </a:lnTo>
                <a:lnTo>
                  <a:pt x="0" y="861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305" t="-28781" r="-8303" b="-20481"/>
            </a:stretch>
          </a:blipFill>
        </p:spPr>
      </p:sp>
      <p:sp>
        <p:nvSpPr>
          <p:cNvPr id="105" name="TextBox 105"/>
          <p:cNvSpPr txBox="1"/>
          <p:nvPr/>
        </p:nvSpPr>
        <p:spPr>
          <a:xfrm>
            <a:off x="0" y="7068086"/>
            <a:ext cx="1849079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7"/>
              </a:lnSpc>
            </a:pPr>
            <a:r>
              <a:rPr lang="en-US" sz="1612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Verification Strip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349489" y="6995035"/>
            <a:ext cx="1408955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atom count verified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291227" y="6992784"/>
            <a:ext cx="1137986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valence checked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066038" y="6985510"/>
            <a:ext cx="1489980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bond order checked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109269" y="6981333"/>
            <a:ext cx="2108023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same connectivity confirmed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3326465" y="317852"/>
            <a:ext cx="4039071" cy="524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2"/>
              </a:lnSpc>
            </a:pPr>
            <a:r>
              <a:rPr lang="en-US" sz="2959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01</a:t>
            </a:r>
            <a:r>
              <a:rPr lang="en-US" sz="295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| PROPANE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5818843" y="1746139"/>
            <a:ext cx="216786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02 LEWIS STRUCTURE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804333" y="4353450"/>
            <a:ext cx="384065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03 CONDENSED STRUCTURAL FORMULA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818849" y="4353450"/>
            <a:ext cx="267704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04 BOND LINE STRUCTURE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4286600" y="840469"/>
            <a:ext cx="2222929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IUPAC Name: </a:t>
            </a:r>
            <a:r>
              <a:rPr lang="en-US" sz="1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Propane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961084" y="2575459"/>
            <a:ext cx="1758876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C₃H₈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417171" y="5086587"/>
            <a:ext cx="2869429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CH₃CH₂CH₃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86600" y="1071609"/>
            <a:ext cx="2222929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Molecular Formula:</a:t>
            </a:r>
            <a:r>
              <a:rPr lang="en-US" sz="1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C₃H₈</a:t>
            </a:r>
          </a:p>
        </p:txBody>
      </p:sp>
      <p:sp>
        <p:nvSpPr>
          <p:cNvPr id="118" name="Freeform 118"/>
          <p:cNvSpPr/>
          <p:nvPr/>
        </p:nvSpPr>
        <p:spPr>
          <a:xfrm>
            <a:off x="7911230" y="7050262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39" y="0"/>
                </a:lnTo>
                <a:lnTo>
                  <a:pt x="198039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9" name="Freeform 119"/>
          <p:cNvSpPr/>
          <p:nvPr/>
        </p:nvSpPr>
        <p:spPr>
          <a:xfrm>
            <a:off x="5856282" y="7046424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0" name="Freeform 120"/>
          <p:cNvSpPr/>
          <p:nvPr/>
        </p:nvSpPr>
        <p:spPr>
          <a:xfrm>
            <a:off x="4066114" y="7046424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1" name="Freeform 121"/>
          <p:cNvSpPr/>
          <p:nvPr/>
        </p:nvSpPr>
        <p:spPr>
          <a:xfrm>
            <a:off x="2180483" y="7046811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589" y="7128836"/>
            <a:ext cx="9476471" cy="267567"/>
            <a:chOff x="0" y="0"/>
            <a:chExt cx="3396153" cy="95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6153" cy="95890"/>
            </a:xfrm>
            <a:custGeom>
              <a:avLst/>
              <a:gdLst/>
              <a:ahLst/>
              <a:cxnLst/>
              <a:rect l="l" t="t" r="r" b="b"/>
              <a:pathLst>
                <a:path w="3396153" h="95890">
                  <a:moveTo>
                    <a:pt x="0" y="0"/>
                  </a:moveTo>
                  <a:lnTo>
                    <a:pt x="3396153" y="0"/>
                  </a:lnTo>
                  <a:lnTo>
                    <a:pt x="3396153" y="95890"/>
                  </a:lnTo>
                  <a:lnTo>
                    <a:pt x="0" y="9589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96153" cy="133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81286" y="6914001"/>
            <a:ext cx="1695142" cy="506827"/>
            <a:chOff x="0" y="0"/>
            <a:chExt cx="986654" cy="2949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86654" cy="294998"/>
            </a:xfrm>
            <a:custGeom>
              <a:avLst/>
              <a:gdLst/>
              <a:ahLst/>
              <a:cxnLst/>
              <a:rect l="l" t="t" r="r" b="b"/>
              <a:pathLst>
                <a:path w="986654" h="294998">
                  <a:moveTo>
                    <a:pt x="0" y="0"/>
                  </a:moveTo>
                  <a:lnTo>
                    <a:pt x="986654" y="0"/>
                  </a:lnTo>
                  <a:lnTo>
                    <a:pt x="986654" y="294998"/>
                  </a:lnTo>
                  <a:lnTo>
                    <a:pt x="0" y="29499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86654" cy="30452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80082" y="6914001"/>
            <a:ext cx="1855425" cy="469297"/>
            <a:chOff x="0" y="0"/>
            <a:chExt cx="1079947" cy="2731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947" cy="273154"/>
            </a:xfrm>
            <a:custGeom>
              <a:avLst/>
              <a:gdLst/>
              <a:ahLst/>
              <a:cxnLst/>
              <a:rect l="l" t="t" r="r" b="b"/>
              <a:pathLst>
                <a:path w="1079947" h="273154">
                  <a:moveTo>
                    <a:pt x="0" y="0"/>
                  </a:moveTo>
                  <a:lnTo>
                    <a:pt x="1079947" y="0"/>
                  </a:lnTo>
                  <a:lnTo>
                    <a:pt x="1079947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79947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35532" y="6914001"/>
            <a:ext cx="2457309" cy="469297"/>
            <a:chOff x="0" y="0"/>
            <a:chExt cx="1430273" cy="2731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30273" cy="273154"/>
            </a:xfrm>
            <a:custGeom>
              <a:avLst/>
              <a:gdLst/>
              <a:ahLst/>
              <a:cxnLst/>
              <a:rect l="l" t="t" r="r" b="b"/>
              <a:pathLst>
                <a:path w="1430273" h="273154">
                  <a:moveTo>
                    <a:pt x="0" y="0"/>
                  </a:moveTo>
                  <a:lnTo>
                    <a:pt x="1430273" y="0"/>
                  </a:lnTo>
                  <a:lnTo>
                    <a:pt x="1430273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430273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78098" y="6906516"/>
            <a:ext cx="1516234" cy="484269"/>
            <a:chOff x="0" y="0"/>
            <a:chExt cx="882522" cy="2818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2522" cy="281868"/>
            </a:xfrm>
            <a:custGeom>
              <a:avLst/>
              <a:gdLst/>
              <a:ahLst/>
              <a:cxnLst/>
              <a:rect l="l" t="t" r="r" b="b"/>
              <a:pathLst>
                <a:path w="882522" h="281868">
                  <a:moveTo>
                    <a:pt x="0" y="0"/>
                  </a:moveTo>
                  <a:lnTo>
                    <a:pt x="882522" y="0"/>
                  </a:lnTo>
                  <a:lnTo>
                    <a:pt x="882522" y="281868"/>
                  </a:lnTo>
                  <a:lnTo>
                    <a:pt x="0" y="28186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882522" cy="29139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203695" y="7298929"/>
            <a:ext cx="11099389" cy="821606"/>
            <a:chOff x="0" y="0"/>
            <a:chExt cx="7711097" cy="5707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711098" cy="570795"/>
            </a:xfrm>
            <a:custGeom>
              <a:avLst/>
              <a:gdLst/>
              <a:ahLst/>
              <a:cxnLst/>
              <a:rect l="l" t="t" r="r" b="b"/>
              <a:pathLst>
                <a:path w="7711098" h="570795">
                  <a:moveTo>
                    <a:pt x="0" y="0"/>
                  </a:moveTo>
                  <a:lnTo>
                    <a:pt x="7711098" y="0"/>
                  </a:lnTo>
                  <a:lnTo>
                    <a:pt x="7711098" y="570795"/>
                  </a:lnTo>
                  <a:lnTo>
                    <a:pt x="0" y="570795"/>
                  </a:lnTo>
                  <a:close/>
                </a:path>
              </a:pathLst>
            </a:custGeom>
            <a:solidFill>
              <a:srgbClr val="1800AD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711097" cy="589845"/>
            </a:xfrm>
            <a:prstGeom prst="rect">
              <a:avLst/>
            </a:prstGeom>
          </p:spPr>
          <p:txBody>
            <a:bodyPr lIns="26205" tIns="26205" rIns="26205" bIns="26205" rtlCol="0" anchor="ctr"/>
            <a:lstStyle/>
            <a:p>
              <a:pPr algn="ctr">
                <a:lnSpc>
                  <a:spcPts val="101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2016451" y="7006951"/>
            <a:ext cx="3998045" cy="313443"/>
            <a:chOff x="0" y="0"/>
            <a:chExt cx="2346804" cy="1839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46804" cy="183987"/>
            </a:xfrm>
            <a:custGeom>
              <a:avLst/>
              <a:gdLst/>
              <a:ahLst/>
              <a:cxnLst/>
              <a:rect l="l" t="t" r="r" b="b"/>
              <a:pathLst>
                <a:path w="2346804" h="183987">
                  <a:moveTo>
                    <a:pt x="203200" y="0"/>
                  </a:moveTo>
                  <a:lnTo>
                    <a:pt x="2143604" y="0"/>
                  </a:lnTo>
                  <a:lnTo>
                    <a:pt x="2346804" y="183987"/>
                  </a:lnTo>
                  <a:lnTo>
                    <a:pt x="0" y="18398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27000" y="-38100"/>
              <a:ext cx="2092804" cy="222087"/>
            </a:xfrm>
            <a:prstGeom prst="rect">
              <a:avLst/>
            </a:prstGeom>
          </p:spPr>
          <p:txBody>
            <a:bodyPr lIns="72901" tIns="72901" rIns="72901" bIns="72901" rtlCol="0" anchor="ctr"/>
            <a:lstStyle/>
            <a:p>
              <a:pPr algn="ctr">
                <a:lnSpc>
                  <a:spcPts val="180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799" y="1725825"/>
            <a:ext cx="4432173" cy="2319703"/>
            <a:chOff x="0" y="0"/>
            <a:chExt cx="2579739" cy="135017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8144" y="1657885"/>
            <a:ext cx="135310" cy="135879"/>
            <a:chOff x="0" y="0"/>
            <a:chExt cx="48492" cy="486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8144" y="3977588"/>
            <a:ext cx="135310" cy="135879"/>
            <a:chOff x="0" y="0"/>
            <a:chExt cx="48492" cy="486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000317" y="3977588"/>
            <a:ext cx="135310" cy="135879"/>
            <a:chOff x="0" y="0"/>
            <a:chExt cx="48492" cy="4869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000317" y="1657885"/>
            <a:ext cx="135310" cy="135879"/>
            <a:chOff x="0" y="0"/>
            <a:chExt cx="48492" cy="4869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24028" y="1725216"/>
            <a:ext cx="4432173" cy="2319094"/>
            <a:chOff x="0" y="0"/>
            <a:chExt cx="2579739" cy="134982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56374" y="1656668"/>
            <a:ext cx="135310" cy="137096"/>
            <a:chOff x="0" y="0"/>
            <a:chExt cx="48492" cy="4913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56374" y="3976371"/>
            <a:ext cx="135310" cy="137096"/>
            <a:chOff x="0" y="0"/>
            <a:chExt cx="48492" cy="4913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988546" y="3975154"/>
            <a:ext cx="135310" cy="137096"/>
            <a:chOff x="0" y="0"/>
            <a:chExt cx="48492" cy="4913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988546" y="1656668"/>
            <a:ext cx="135310" cy="137096"/>
            <a:chOff x="0" y="0"/>
            <a:chExt cx="48492" cy="4913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35799" y="4333136"/>
            <a:ext cx="4432173" cy="2319703"/>
            <a:chOff x="0" y="0"/>
            <a:chExt cx="2579739" cy="135017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8144" y="4265196"/>
            <a:ext cx="135310" cy="135879"/>
            <a:chOff x="0" y="0"/>
            <a:chExt cx="48492" cy="4869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8144" y="6584899"/>
            <a:ext cx="135310" cy="135879"/>
            <a:chOff x="0" y="0"/>
            <a:chExt cx="48492" cy="4869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000317" y="6584899"/>
            <a:ext cx="135310" cy="135879"/>
            <a:chOff x="0" y="0"/>
            <a:chExt cx="48492" cy="486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000317" y="4265196"/>
            <a:ext cx="135310" cy="135879"/>
            <a:chOff x="0" y="0"/>
            <a:chExt cx="48492" cy="4869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24028" y="4332527"/>
            <a:ext cx="4432173" cy="2319094"/>
            <a:chOff x="0" y="0"/>
            <a:chExt cx="2579739" cy="134982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556374" y="4263979"/>
            <a:ext cx="135310" cy="137096"/>
            <a:chOff x="0" y="0"/>
            <a:chExt cx="48492" cy="4913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556374" y="6583682"/>
            <a:ext cx="135310" cy="137096"/>
            <a:chOff x="0" y="0"/>
            <a:chExt cx="48492" cy="4913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988546" y="6582465"/>
            <a:ext cx="135310" cy="137096"/>
            <a:chOff x="0" y="0"/>
            <a:chExt cx="48492" cy="4913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988546" y="4263979"/>
            <a:ext cx="135310" cy="137096"/>
            <a:chOff x="0" y="0"/>
            <a:chExt cx="48492" cy="4913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783084" y="233256"/>
            <a:ext cx="7125832" cy="1237675"/>
            <a:chOff x="0" y="0"/>
            <a:chExt cx="2553737" cy="44355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553737" cy="443555"/>
            </a:xfrm>
            <a:custGeom>
              <a:avLst/>
              <a:gdLst/>
              <a:ahLst/>
              <a:cxnLst/>
              <a:rect l="l" t="t" r="r" b="b"/>
              <a:pathLst>
                <a:path w="2553737" h="443555">
                  <a:moveTo>
                    <a:pt x="0" y="0"/>
                  </a:moveTo>
                  <a:lnTo>
                    <a:pt x="2553737" y="0"/>
                  </a:lnTo>
                  <a:lnTo>
                    <a:pt x="2553737" y="443555"/>
                  </a:lnTo>
                  <a:lnTo>
                    <a:pt x="0" y="443555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2553737" cy="481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2180483" y="7030880"/>
            <a:ext cx="169006" cy="173795"/>
            <a:chOff x="0" y="0"/>
            <a:chExt cx="60568" cy="6228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4066114" y="7028958"/>
            <a:ext cx="169006" cy="173795"/>
            <a:chOff x="0" y="0"/>
            <a:chExt cx="60568" cy="6228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856282" y="7033522"/>
            <a:ext cx="169006" cy="173795"/>
            <a:chOff x="0" y="0"/>
            <a:chExt cx="60568" cy="6228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7902207" y="7036159"/>
            <a:ext cx="169006" cy="173795"/>
            <a:chOff x="0" y="0"/>
            <a:chExt cx="60568" cy="62284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sp>
        <p:nvSpPr>
          <p:cNvPr id="98" name="TextBox 98"/>
          <p:cNvSpPr txBox="1"/>
          <p:nvPr/>
        </p:nvSpPr>
        <p:spPr>
          <a:xfrm>
            <a:off x="804338" y="1747356"/>
            <a:ext cx="252212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01 MOLECULAR FORMULA</a:t>
            </a:r>
          </a:p>
        </p:txBody>
      </p:sp>
      <p:sp>
        <p:nvSpPr>
          <p:cNvPr id="99" name="AutoShape 99"/>
          <p:cNvSpPr/>
          <p:nvPr/>
        </p:nvSpPr>
        <p:spPr>
          <a:xfrm flipV="1">
            <a:off x="804338" y="2023581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0" name="AutoShape 100"/>
          <p:cNvSpPr/>
          <p:nvPr/>
        </p:nvSpPr>
        <p:spPr>
          <a:xfrm flipV="1">
            <a:off x="5818849" y="2031889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1" name="AutoShape 101"/>
          <p:cNvSpPr/>
          <p:nvPr/>
        </p:nvSpPr>
        <p:spPr>
          <a:xfrm flipV="1">
            <a:off x="810017" y="4666554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" name="AutoShape 102"/>
          <p:cNvSpPr/>
          <p:nvPr/>
        </p:nvSpPr>
        <p:spPr>
          <a:xfrm flipV="1">
            <a:off x="5818854" y="4655812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" name="Freeform 103"/>
          <p:cNvSpPr/>
          <p:nvPr/>
        </p:nvSpPr>
        <p:spPr>
          <a:xfrm>
            <a:off x="5744089" y="1963341"/>
            <a:ext cx="4192052" cy="2102486"/>
          </a:xfrm>
          <a:custGeom>
            <a:avLst/>
            <a:gdLst/>
            <a:ahLst/>
            <a:cxnLst/>
            <a:rect l="l" t="t" r="r" b="b"/>
            <a:pathLst>
              <a:path w="4192052" h="2102486">
                <a:moveTo>
                  <a:pt x="0" y="0"/>
                </a:moveTo>
                <a:lnTo>
                  <a:pt x="4192052" y="0"/>
                </a:lnTo>
                <a:lnTo>
                  <a:pt x="4192052" y="2102486"/>
                </a:lnTo>
                <a:lnTo>
                  <a:pt x="0" y="21024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9332" b="-50053"/>
            </a:stretch>
          </a:blipFill>
        </p:spPr>
      </p:sp>
      <p:sp>
        <p:nvSpPr>
          <p:cNvPr id="104" name="Freeform 104"/>
          <p:cNvSpPr/>
          <p:nvPr/>
        </p:nvSpPr>
        <p:spPr>
          <a:xfrm>
            <a:off x="6606471" y="5160637"/>
            <a:ext cx="2467288" cy="987964"/>
          </a:xfrm>
          <a:custGeom>
            <a:avLst/>
            <a:gdLst/>
            <a:ahLst/>
            <a:cxnLst/>
            <a:rect l="l" t="t" r="r" b="b"/>
            <a:pathLst>
              <a:path w="2467288" h="987964">
                <a:moveTo>
                  <a:pt x="0" y="0"/>
                </a:moveTo>
                <a:lnTo>
                  <a:pt x="2467288" y="0"/>
                </a:lnTo>
                <a:lnTo>
                  <a:pt x="2467288" y="987964"/>
                </a:lnTo>
                <a:lnTo>
                  <a:pt x="0" y="987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52" t="-29475" b="-56980"/>
            </a:stretch>
          </a:blipFill>
        </p:spPr>
      </p:sp>
      <p:sp>
        <p:nvSpPr>
          <p:cNvPr id="105" name="TextBox 105"/>
          <p:cNvSpPr txBox="1"/>
          <p:nvPr/>
        </p:nvSpPr>
        <p:spPr>
          <a:xfrm>
            <a:off x="0" y="7068086"/>
            <a:ext cx="1849079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7"/>
              </a:lnSpc>
            </a:pPr>
            <a:r>
              <a:rPr lang="en-US" sz="1612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Verification Strip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349489" y="6995035"/>
            <a:ext cx="1408955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atom count verified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291227" y="6992784"/>
            <a:ext cx="1137986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valence checked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066038" y="6985510"/>
            <a:ext cx="1489980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bond order checked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109269" y="6981333"/>
            <a:ext cx="2108023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same connectivity confirmed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3326465" y="336902"/>
            <a:ext cx="4039071" cy="524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2"/>
              </a:lnSpc>
            </a:pPr>
            <a:r>
              <a:rPr lang="en-US" sz="2959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02 </a:t>
            </a:r>
            <a:r>
              <a:rPr lang="en-US" sz="295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| ETHANOL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5818843" y="1746139"/>
            <a:ext cx="211244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02 LEWIS STRUCTURE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804333" y="4353450"/>
            <a:ext cx="384065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03 CONDENSED STRUCTURAL FORMULA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818849" y="4353450"/>
            <a:ext cx="267704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04 BOND LINE STRUCTURE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4234535" y="822913"/>
            <a:ext cx="2222929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IUPAC Name:</a:t>
            </a:r>
            <a:r>
              <a:rPr lang="en-US" sz="1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Ethanol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961084" y="2575459"/>
            <a:ext cx="1758876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C₂H₆O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417171" y="5086587"/>
            <a:ext cx="2869429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CH₃CH₂OH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165134" y="1056719"/>
            <a:ext cx="2406980" cy="2369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 dirty="0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Molecular Formula: </a:t>
            </a:r>
            <a:r>
              <a:rPr lang="en-US" sz="1400" dirty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C₂H₆O</a:t>
            </a:r>
          </a:p>
        </p:txBody>
      </p:sp>
      <p:sp>
        <p:nvSpPr>
          <p:cNvPr id="118" name="Freeform 118"/>
          <p:cNvSpPr/>
          <p:nvPr/>
        </p:nvSpPr>
        <p:spPr>
          <a:xfrm>
            <a:off x="2180483" y="7046811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9" name="Freeform 119"/>
          <p:cNvSpPr/>
          <p:nvPr/>
        </p:nvSpPr>
        <p:spPr>
          <a:xfrm>
            <a:off x="4066114" y="7046811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0" name="Freeform 120"/>
          <p:cNvSpPr/>
          <p:nvPr/>
        </p:nvSpPr>
        <p:spPr>
          <a:xfrm>
            <a:off x="5856282" y="7054826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1" name="Freeform 121"/>
          <p:cNvSpPr/>
          <p:nvPr/>
        </p:nvSpPr>
        <p:spPr>
          <a:xfrm>
            <a:off x="7902207" y="7054826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589" y="7128836"/>
            <a:ext cx="9476471" cy="267567"/>
            <a:chOff x="0" y="0"/>
            <a:chExt cx="3396153" cy="95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6153" cy="95890"/>
            </a:xfrm>
            <a:custGeom>
              <a:avLst/>
              <a:gdLst/>
              <a:ahLst/>
              <a:cxnLst/>
              <a:rect l="l" t="t" r="r" b="b"/>
              <a:pathLst>
                <a:path w="3396153" h="95890">
                  <a:moveTo>
                    <a:pt x="0" y="0"/>
                  </a:moveTo>
                  <a:lnTo>
                    <a:pt x="3396153" y="0"/>
                  </a:lnTo>
                  <a:lnTo>
                    <a:pt x="3396153" y="95890"/>
                  </a:lnTo>
                  <a:lnTo>
                    <a:pt x="0" y="9589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96153" cy="133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81286" y="6914001"/>
            <a:ext cx="1695142" cy="506827"/>
            <a:chOff x="0" y="0"/>
            <a:chExt cx="986654" cy="2949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86654" cy="294998"/>
            </a:xfrm>
            <a:custGeom>
              <a:avLst/>
              <a:gdLst/>
              <a:ahLst/>
              <a:cxnLst/>
              <a:rect l="l" t="t" r="r" b="b"/>
              <a:pathLst>
                <a:path w="986654" h="294998">
                  <a:moveTo>
                    <a:pt x="0" y="0"/>
                  </a:moveTo>
                  <a:lnTo>
                    <a:pt x="986654" y="0"/>
                  </a:lnTo>
                  <a:lnTo>
                    <a:pt x="986654" y="294998"/>
                  </a:lnTo>
                  <a:lnTo>
                    <a:pt x="0" y="29499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86654" cy="30452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80082" y="6914001"/>
            <a:ext cx="1855425" cy="469297"/>
            <a:chOff x="0" y="0"/>
            <a:chExt cx="1079947" cy="2731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947" cy="273154"/>
            </a:xfrm>
            <a:custGeom>
              <a:avLst/>
              <a:gdLst/>
              <a:ahLst/>
              <a:cxnLst/>
              <a:rect l="l" t="t" r="r" b="b"/>
              <a:pathLst>
                <a:path w="1079947" h="273154">
                  <a:moveTo>
                    <a:pt x="0" y="0"/>
                  </a:moveTo>
                  <a:lnTo>
                    <a:pt x="1079947" y="0"/>
                  </a:lnTo>
                  <a:lnTo>
                    <a:pt x="1079947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79947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35532" y="6914001"/>
            <a:ext cx="2457309" cy="469297"/>
            <a:chOff x="0" y="0"/>
            <a:chExt cx="1430273" cy="2731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30273" cy="273154"/>
            </a:xfrm>
            <a:custGeom>
              <a:avLst/>
              <a:gdLst/>
              <a:ahLst/>
              <a:cxnLst/>
              <a:rect l="l" t="t" r="r" b="b"/>
              <a:pathLst>
                <a:path w="1430273" h="273154">
                  <a:moveTo>
                    <a:pt x="0" y="0"/>
                  </a:moveTo>
                  <a:lnTo>
                    <a:pt x="1430273" y="0"/>
                  </a:lnTo>
                  <a:lnTo>
                    <a:pt x="1430273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430273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78098" y="6906516"/>
            <a:ext cx="1516234" cy="484269"/>
            <a:chOff x="0" y="0"/>
            <a:chExt cx="882522" cy="2818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2522" cy="281868"/>
            </a:xfrm>
            <a:custGeom>
              <a:avLst/>
              <a:gdLst/>
              <a:ahLst/>
              <a:cxnLst/>
              <a:rect l="l" t="t" r="r" b="b"/>
              <a:pathLst>
                <a:path w="882522" h="281868">
                  <a:moveTo>
                    <a:pt x="0" y="0"/>
                  </a:moveTo>
                  <a:lnTo>
                    <a:pt x="882522" y="0"/>
                  </a:lnTo>
                  <a:lnTo>
                    <a:pt x="882522" y="281868"/>
                  </a:lnTo>
                  <a:lnTo>
                    <a:pt x="0" y="28186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882522" cy="29139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203695" y="7298929"/>
            <a:ext cx="11099389" cy="821606"/>
            <a:chOff x="0" y="0"/>
            <a:chExt cx="7711097" cy="5707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711098" cy="570795"/>
            </a:xfrm>
            <a:custGeom>
              <a:avLst/>
              <a:gdLst/>
              <a:ahLst/>
              <a:cxnLst/>
              <a:rect l="l" t="t" r="r" b="b"/>
              <a:pathLst>
                <a:path w="7711098" h="570795">
                  <a:moveTo>
                    <a:pt x="0" y="0"/>
                  </a:moveTo>
                  <a:lnTo>
                    <a:pt x="7711098" y="0"/>
                  </a:lnTo>
                  <a:lnTo>
                    <a:pt x="7711098" y="570795"/>
                  </a:lnTo>
                  <a:lnTo>
                    <a:pt x="0" y="570795"/>
                  </a:lnTo>
                  <a:close/>
                </a:path>
              </a:pathLst>
            </a:custGeom>
            <a:solidFill>
              <a:srgbClr val="1800AD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711097" cy="589845"/>
            </a:xfrm>
            <a:prstGeom prst="rect">
              <a:avLst/>
            </a:prstGeom>
          </p:spPr>
          <p:txBody>
            <a:bodyPr lIns="26205" tIns="26205" rIns="26205" bIns="26205" rtlCol="0" anchor="ctr"/>
            <a:lstStyle/>
            <a:p>
              <a:pPr algn="ctr">
                <a:lnSpc>
                  <a:spcPts val="101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2016451" y="7006951"/>
            <a:ext cx="3998045" cy="313443"/>
            <a:chOff x="0" y="0"/>
            <a:chExt cx="2346804" cy="1839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46804" cy="183987"/>
            </a:xfrm>
            <a:custGeom>
              <a:avLst/>
              <a:gdLst/>
              <a:ahLst/>
              <a:cxnLst/>
              <a:rect l="l" t="t" r="r" b="b"/>
              <a:pathLst>
                <a:path w="2346804" h="183987">
                  <a:moveTo>
                    <a:pt x="203200" y="0"/>
                  </a:moveTo>
                  <a:lnTo>
                    <a:pt x="2143604" y="0"/>
                  </a:lnTo>
                  <a:lnTo>
                    <a:pt x="2346804" y="183987"/>
                  </a:lnTo>
                  <a:lnTo>
                    <a:pt x="0" y="18398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27000" y="-38100"/>
              <a:ext cx="2092804" cy="222087"/>
            </a:xfrm>
            <a:prstGeom prst="rect">
              <a:avLst/>
            </a:prstGeom>
          </p:spPr>
          <p:txBody>
            <a:bodyPr lIns="72901" tIns="72901" rIns="72901" bIns="72901" rtlCol="0" anchor="ctr"/>
            <a:lstStyle/>
            <a:p>
              <a:pPr algn="ctr">
                <a:lnSpc>
                  <a:spcPts val="180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799" y="1725825"/>
            <a:ext cx="4432173" cy="2319703"/>
            <a:chOff x="0" y="0"/>
            <a:chExt cx="2579739" cy="135017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8144" y="1657885"/>
            <a:ext cx="135310" cy="135879"/>
            <a:chOff x="0" y="0"/>
            <a:chExt cx="48492" cy="486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8144" y="3977588"/>
            <a:ext cx="135310" cy="135879"/>
            <a:chOff x="0" y="0"/>
            <a:chExt cx="48492" cy="486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000317" y="3977588"/>
            <a:ext cx="135310" cy="135879"/>
            <a:chOff x="0" y="0"/>
            <a:chExt cx="48492" cy="4869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000317" y="1657885"/>
            <a:ext cx="135310" cy="135879"/>
            <a:chOff x="0" y="0"/>
            <a:chExt cx="48492" cy="4869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24028" y="1725216"/>
            <a:ext cx="4432173" cy="2319094"/>
            <a:chOff x="0" y="0"/>
            <a:chExt cx="2579739" cy="134982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56374" y="1656668"/>
            <a:ext cx="135310" cy="137096"/>
            <a:chOff x="0" y="0"/>
            <a:chExt cx="48492" cy="4913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56374" y="3976371"/>
            <a:ext cx="135310" cy="137096"/>
            <a:chOff x="0" y="0"/>
            <a:chExt cx="48492" cy="4913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988546" y="3975154"/>
            <a:ext cx="135310" cy="137096"/>
            <a:chOff x="0" y="0"/>
            <a:chExt cx="48492" cy="4913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988546" y="1656668"/>
            <a:ext cx="135310" cy="137096"/>
            <a:chOff x="0" y="0"/>
            <a:chExt cx="48492" cy="4913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35799" y="4333136"/>
            <a:ext cx="4432173" cy="2319703"/>
            <a:chOff x="0" y="0"/>
            <a:chExt cx="2579739" cy="135017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8144" y="4265196"/>
            <a:ext cx="135310" cy="135879"/>
            <a:chOff x="0" y="0"/>
            <a:chExt cx="48492" cy="4869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8144" y="6584899"/>
            <a:ext cx="135310" cy="135879"/>
            <a:chOff x="0" y="0"/>
            <a:chExt cx="48492" cy="4869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000317" y="6584899"/>
            <a:ext cx="135310" cy="135879"/>
            <a:chOff x="0" y="0"/>
            <a:chExt cx="48492" cy="486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000317" y="4265196"/>
            <a:ext cx="135310" cy="135879"/>
            <a:chOff x="0" y="0"/>
            <a:chExt cx="48492" cy="4869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24028" y="4332527"/>
            <a:ext cx="4432173" cy="2319094"/>
            <a:chOff x="0" y="0"/>
            <a:chExt cx="2579739" cy="134982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556374" y="4263979"/>
            <a:ext cx="135310" cy="137096"/>
            <a:chOff x="0" y="0"/>
            <a:chExt cx="48492" cy="4913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556374" y="6583682"/>
            <a:ext cx="135310" cy="137096"/>
            <a:chOff x="0" y="0"/>
            <a:chExt cx="48492" cy="4913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988546" y="6582465"/>
            <a:ext cx="135310" cy="137096"/>
            <a:chOff x="0" y="0"/>
            <a:chExt cx="48492" cy="4913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988546" y="4263979"/>
            <a:ext cx="135310" cy="137096"/>
            <a:chOff x="0" y="0"/>
            <a:chExt cx="48492" cy="4913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783084" y="233256"/>
            <a:ext cx="7125832" cy="1237675"/>
            <a:chOff x="0" y="0"/>
            <a:chExt cx="2553737" cy="44355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553737" cy="443555"/>
            </a:xfrm>
            <a:custGeom>
              <a:avLst/>
              <a:gdLst/>
              <a:ahLst/>
              <a:cxnLst/>
              <a:rect l="l" t="t" r="r" b="b"/>
              <a:pathLst>
                <a:path w="2553737" h="443555">
                  <a:moveTo>
                    <a:pt x="0" y="0"/>
                  </a:moveTo>
                  <a:lnTo>
                    <a:pt x="2553737" y="0"/>
                  </a:lnTo>
                  <a:lnTo>
                    <a:pt x="2553737" y="443555"/>
                  </a:lnTo>
                  <a:lnTo>
                    <a:pt x="0" y="443555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2553737" cy="481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2180483" y="7030880"/>
            <a:ext cx="169006" cy="173795"/>
            <a:chOff x="0" y="0"/>
            <a:chExt cx="60568" cy="6228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4066114" y="7028958"/>
            <a:ext cx="169006" cy="173795"/>
            <a:chOff x="0" y="0"/>
            <a:chExt cx="60568" cy="6228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856282" y="7033522"/>
            <a:ext cx="169006" cy="173795"/>
            <a:chOff x="0" y="0"/>
            <a:chExt cx="60568" cy="6228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7902207" y="7036159"/>
            <a:ext cx="169006" cy="173795"/>
            <a:chOff x="0" y="0"/>
            <a:chExt cx="60568" cy="62284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sp>
        <p:nvSpPr>
          <p:cNvPr id="98" name="TextBox 98"/>
          <p:cNvSpPr txBox="1"/>
          <p:nvPr/>
        </p:nvSpPr>
        <p:spPr>
          <a:xfrm>
            <a:off x="804338" y="1747356"/>
            <a:ext cx="252212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01 MOLECULAR FORMULA</a:t>
            </a:r>
          </a:p>
        </p:txBody>
      </p:sp>
      <p:sp>
        <p:nvSpPr>
          <p:cNvPr id="99" name="AutoShape 99"/>
          <p:cNvSpPr/>
          <p:nvPr/>
        </p:nvSpPr>
        <p:spPr>
          <a:xfrm flipV="1">
            <a:off x="804338" y="2023581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0" name="AutoShape 100"/>
          <p:cNvSpPr/>
          <p:nvPr/>
        </p:nvSpPr>
        <p:spPr>
          <a:xfrm flipV="1">
            <a:off x="5818849" y="2031889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1" name="AutoShape 101"/>
          <p:cNvSpPr/>
          <p:nvPr/>
        </p:nvSpPr>
        <p:spPr>
          <a:xfrm flipV="1">
            <a:off x="810017" y="4666554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" name="AutoShape 102"/>
          <p:cNvSpPr/>
          <p:nvPr/>
        </p:nvSpPr>
        <p:spPr>
          <a:xfrm flipV="1">
            <a:off x="5818854" y="4655812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" name="Freeform 103"/>
          <p:cNvSpPr/>
          <p:nvPr/>
        </p:nvSpPr>
        <p:spPr>
          <a:xfrm>
            <a:off x="5687808" y="2036652"/>
            <a:ext cx="4192052" cy="2120356"/>
          </a:xfrm>
          <a:custGeom>
            <a:avLst/>
            <a:gdLst/>
            <a:ahLst/>
            <a:cxnLst/>
            <a:rect l="l" t="t" r="r" b="b"/>
            <a:pathLst>
              <a:path w="4192052" h="2120356">
                <a:moveTo>
                  <a:pt x="0" y="0"/>
                </a:moveTo>
                <a:lnTo>
                  <a:pt x="4192053" y="0"/>
                </a:lnTo>
                <a:lnTo>
                  <a:pt x="4192053" y="2120356"/>
                </a:lnTo>
                <a:lnTo>
                  <a:pt x="0" y="2120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9831" b="-47873"/>
            </a:stretch>
          </a:blipFill>
        </p:spPr>
      </p:sp>
      <p:sp>
        <p:nvSpPr>
          <p:cNvPr id="104" name="Freeform 104"/>
          <p:cNvSpPr/>
          <p:nvPr/>
        </p:nvSpPr>
        <p:spPr>
          <a:xfrm>
            <a:off x="6752104" y="4792460"/>
            <a:ext cx="2176021" cy="1700923"/>
          </a:xfrm>
          <a:custGeom>
            <a:avLst/>
            <a:gdLst/>
            <a:ahLst/>
            <a:cxnLst/>
            <a:rect l="l" t="t" r="r" b="b"/>
            <a:pathLst>
              <a:path w="2176021" h="1700923">
                <a:moveTo>
                  <a:pt x="0" y="0"/>
                </a:moveTo>
                <a:lnTo>
                  <a:pt x="2176021" y="0"/>
                </a:lnTo>
                <a:lnTo>
                  <a:pt x="2176021" y="1700923"/>
                </a:lnTo>
                <a:lnTo>
                  <a:pt x="0" y="1700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563" b="-4397"/>
            </a:stretch>
          </a:blipFill>
        </p:spPr>
      </p:sp>
      <p:sp>
        <p:nvSpPr>
          <p:cNvPr id="105" name="TextBox 105"/>
          <p:cNvSpPr txBox="1"/>
          <p:nvPr/>
        </p:nvSpPr>
        <p:spPr>
          <a:xfrm>
            <a:off x="0" y="7068086"/>
            <a:ext cx="1849079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7"/>
              </a:lnSpc>
            </a:pPr>
            <a:r>
              <a:rPr lang="en-US" sz="1612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Verification Strip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349489" y="6995035"/>
            <a:ext cx="1408955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atom count verified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291227" y="6992784"/>
            <a:ext cx="1137986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valence checked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066038" y="6985510"/>
            <a:ext cx="1489980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bond order checked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109269" y="6981333"/>
            <a:ext cx="2108023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same connectivity confirmed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3326465" y="364996"/>
            <a:ext cx="4039071" cy="524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2"/>
              </a:lnSpc>
            </a:pPr>
            <a:r>
              <a:rPr lang="en-US" sz="2959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03 </a:t>
            </a:r>
            <a:r>
              <a:rPr lang="en-US" sz="295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| Acetone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5818843" y="1746139"/>
            <a:ext cx="216786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02 LEWIS STRUCTURE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804333" y="4353450"/>
            <a:ext cx="384065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03 CONDENSED STRUCTURAL FORMULA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818849" y="4353450"/>
            <a:ext cx="267704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04 BOND LINE STRUCTURE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4064918" y="851806"/>
            <a:ext cx="2562165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IUPAC Name:</a:t>
            </a:r>
            <a:r>
              <a:rPr lang="en-US" sz="1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Propan-2-one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961084" y="2575459"/>
            <a:ext cx="1758876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C₃H₆O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417171" y="5086587"/>
            <a:ext cx="2869429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CH₃COCH₃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051300" y="1089939"/>
            <a:ext cx="2562165" cy="2369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 dirty="0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Molecular Formula: </a:t>
            </a:r>
            <a:r>
              <a:rPr lang="en-US" sz="1400" dirty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C₃H₆O</a:t>
            </a:r>
          </a:p>
        </p:txBody>
      </p:sp>
      <p:sp>
        <p:nvSpPr>
          <p:cNvPr id="118" name="Freeform 118"/>
          <p:cNvSpPr/>
          <p:nvPr/>
        </p:nvSpPr>
        <p:spPr>
          <a:xfrm>
            <a:off x="7902207" y="7046811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9" name="Freeform 119"/>
          <p:cNvSpPr/>
          <p:nvPr/>
        </p:nvSpPr>
        <p:spPr>
          <a:xfrm>
            <a:off x="5858473" y="7044174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0"/>
                </a:lnTo>
                <a:lnTo>
                  <a:pt x="0" y="1524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0" name="Freeform 120"/>
          <p:cNvSpPr/>
          <p:nvPr/>
        </p:nvSpPr>
        <p:spPr>
          <a:xfrm>
            <a:off x="4066114" y="7044174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0"/>
                </a:lnTo>
                <a:lnTo>
                  <a:pt x="0" y="1524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1" name="Freeform 121"/>
          <p:cNvSpPr/>
          <p:nvPr/>
        </p:nvSpPr>
        <p:spPr>
          <a:xfrm>
            <a:off x="2180483" y="7046811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589" y="7128836"/>
            <a:ext cx="9476471" cy="267567"/>
            <a:chOff x="0" y="0"/>
            <a:chExt cx="3396153" cy="95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6153" cy="95890"/>
            </a:xfrm>
            <a:custGeom>
              <a:avLst/>
              <a:gdLst/>
              <a:ahLst/>
              <a:cxnLst/>
              <a:rect l="l" t="t" r="r" b="b"/>
              <a:pathLst>
                <a:path w="3396153" h="95890">
                  <a:moveTo>
                    <a:pt x="0" y="0"/>
                  </a:moveTo>
                  <a:lnTo>
                    <a:pt x="3396153" y="0"/>
                  </a:lnTo>
                  <a:lnTo>
                    <a:pt x="3396153" y="95890"/>
                  </a:lnTo>
                  <a:lnTo>
                    <a:pt x="0" y="9589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96153" cy="133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81286" y="6914001"/>
            <a:ext cx="1695142" cy="506827"/>
            <a:chOff x="0" y="0"/>
            <a:chExt cx="986654" cy="2949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86654" cy="294998"/>
            </a:xfrm>
            <a:custGeom>
              <a:avLst/>
              <a:gdLst/>
              <a:ahLst/>
              <a:cxnLst/>
              <a:rect l="l" t="t" r="r" b="b"/>
              <a:pathLst>
                <a:path w="986654" h="294998">
                  <a:moveTo>
                    <a:pt x="0" y="0"/>
                  </a:moveTo>
                  <a:lnTo>
                    <a:pt x="986654" y="0"/>
                  </a:lnTo>
                  <a:lnTo>
                    <a:pt x="986654" y="294998"/>
                  </a:lnTo>
                  <a:lnTo>
                    <a:pt x="0" y="29499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86654" cy="30452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80082" y="6914001"/>
            <a:ext cx="1855425" cy="469297"/>
            <a:chOff x="0" y="0"/>
            <a:chExt cx="1079947" cy="2731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947" cy="273154"/>
            </a:xfrm>
            <a:custGeom>
              <a:avLst/>
              <a:gdLst/>
              <a:ahLst/>
              <a:cxnLst/>
              <a:rect l="l" t="t" r="r" b="b"/>
              <a:pathLst>
                <a:path w="1079947" h="273154">
                  <a:moveTo>
                    <a:pt x="0" y="0"/>
                  </a:moveTo>
                  <a:lnTo>
                    <a:pt x="1079947" y="0"/>
                  </a:lnTo>
                  <a:lnTo>
                    <a:pt x="1079947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79947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35532" y="6914001"/>
            <a:ext cx="2457309" cy="469297"/>
            <a:chOff x="0" y="0"/>
            <a:chExt cx="1430273" cy="2731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30273" cy="273154"/>
            </a:xfrm>
            <a:custGeom>
              <a:avLst/>
              <a:gdLst/>
              <a:ahLst/>
              <a:cxnLst/>
              <a:rect l="l" t="t" r="r" b="b"/>
              <a:pathLst>
                <a:path w="1430273" h="273154">
                  <a:moveTo>
                    <a:pt x="0" y="0"/>
                  </a:moveTo>
                  <a:lnTo>
                    <a:pt x="1430273" y="0"/>
                  </a:lnTo>
                  <a:lnTo>
                    <a:pt x="1430273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430273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78098" y="6906516"/>
            <a:ext cx="1516234" cy="484269"/>
            <a:chOff x="0" y="0"/>
            <a:chExt cx="882522" cy="2818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2522" cy="281868"/>
            </a:xfrm>
            <a:custGeom>
              <a:avLst/>
              <a:gdLst/>
              <a:ahLst/>
              <a:cxnLst/>
              <a:rect l="l" t="t" r="r" b="b"/>
              <a:pathLst>
                <a:path w="882522" h="281868">
                  <a:moveTo>
                    <a:pt x="0" y="0"/>
                  </a:moveTo>
                  <a:lnTo>
                    <a:pt x="882522" y="0"/>
                  </a:lnTo>
                  <a:lnTo>
                    <a:pt x="882522" y="281868"/>
                  </a:lnTo>
                  <a:lnTo>
                    <a:pt x="0" y="28186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882522" cy="29139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203695" y="7298929"/>
            <a:ext cx="11099389" cy="821606"/>
            <a:chOff x="0" y="0"/>
            <a:chExt cx="7711097" cy="5707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711098" cy="570795"/>
            </a:xfrm>
            <a:custGeom>
              <a:avLst/>
              <a:gdLst/>
              <a:ahLst/>
              <a:cxnLst/>
              <a:rect l="l" t="t" r="r" b="b"/>
              <a:pathLst>
                <a:path w="7711098" h="570795">
                  <a:moveTo>
                    <a:pt x="0" y="0"/>
                  </a:moveTo>
                  <a:lnTo>
                    <a:pt x="7711098" y="0"/>
                  </a:lnTo>
                  <a:lnTo>
                    <a:pt x="7711098" y="570795"/>
                  </a:lnTo>
                  <a:lnTo>
                    <a:pt x="0" y="570795"/>
                  </a:lnTo>
                  <a:close/>
                </a:path>
              </a:pathLst>
            </a:custGeom>
            <a:solidFill>
              <a:srgbClr val="1800AD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711097" cy="589845"/>
            </a:xfrm>
            <a:prstGeom prst="rect">
              <a:avLst/>
            </a:prstGeom>
          </p:spPr>
          <p:txBody>
            <a:bodyPr lIns="26205" tIns="26205" rIns="26205" bIns="26205" rtlCol="0" anchor="ctr"/>
            <a:lstStyle/>
            <a:p>
              <a:pPr algn="ctr">
                <a:lnSpc>
                  <a:spcPts val="101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2016451" y="7006951"/>
            <a:ext cx="3998045" cy="313443"/>
            <a:chOff x="0" y="0"/>
            <a:chExt cx="2346804" cy="1839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46804" cy="183987"/>
            </a:xfrm>
            <a:custGeom>
              <a:avLst/>
              <a:gdLst/>
              <a:ahLst/>
              <a:cxnLst/>
              <a:rect l="l" t="t" r="r" b="b"/>
              <a:pathLst>
                <a:path w="2346804" h="183987">
                  <a:moveTo>
                    <a:pt x="203200" y="0"/>
                  </a:moveTo>
                  <a:lnTo>
                    <a:pt x="2143604" y="0"/>
                  </a:lnTo>
                  <a:lnTo>
                    <a:pt x="2346804" y="183987"/>
                  </a:lnTo>
                  <a:lnTo>
                    <a:pt x="0" y="18398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27000" y="-38100"/>
              <a:ext cx="2092804" cy="222087"/>
            </a:xfrm>
            <a:prstGeom prst="rect">
              <a:avLst/>
            </a:prstGeom>
          </p:spPr>
          <p:txBody>
            <a:bodyPr lIns="72901" tIns="72901" rIns="72901" bIns="72901" rtlCol="0" anchor="ctr"/>
            <a:lstStyle/>
            <a:p>
              <a:pPr algn="ctr">
                <a:lnSpc>
                  <a:spcPts val="180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799" y="1725825"/>
            <a:ext cx="4432173" cy="2319703"/>
            <a:chOff x="0" y="0"/>
            <a:chExt cx="2579739" cy="135017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8144" y="1657885"/>
            <a:ext cx="135310" cy="135879"/>
            <a:chOff x="0" y="0"/>
            <a:chExt cx="48492" cy="486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8144" y="3977588"/>
            <a:ext cx="135310" cy="135879"/>
            <a:chOff x="0" y="0"/>
            <a:chExt cx="48492" cy="486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000317" y="3977588"/>
            <a:ext cx="135310" cy="135879"/>
            <a:chOff x="0" y="0"/>
            <a:chExt cx="48492" cy="4869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000317" y="1657885"/>
            <a:ext cx="135310" cy="135879"/>
            <a:chOff x="0" y="0"/>
            <a:chExt cx="48492" cy="4869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24028" y="1725216"/>
            <a:ext cx="4432173" cy="2319094"/>
            <a:chOff x="0" y="0"/>
            <a:chExt cx="2579739" cy="134982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56374" y="1656668"/>
            <a:ext cx="135310" cy="137096"/>
            <a:chOff x="0" y="0"/>
            <a:chExt cx="48492" cy="4913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56374" y="3976371"/>
            <a:ext cx="135310" cy="137096"/>
            <a:chOff x="0" y="0"/>
            <a:chExt cx="48492" cy="4913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988546" y="3975154"/>
            <a:ext cx="135310" cy="137096"/>
            <a:chOff x="0" y="0"/>
            <a:chExt cx="48492" cy="4913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988546" y="1656668"/>
            <a:ext cx="135310" cy="137096"/>
            <a:chOff x="0" y="0"/>
            <a:chExt cx="48492" cy="4913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35799" y="4333136"/>
            <a:ext cx="4432173" cy="2319703"/>
            <a:chOff x="0" y="0"/>
            <a:chExt cx="2579739" cy="135017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8144" y="4265196"/>
            <a:ext cx="135310" cy="135879"/>
            <a:chOff x="0" y="0"/>
            <a:chExt cx="48492" cy="4869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8144" y="6584899"/>
            <a:ext cx="135310" cy="135879"/>
            <a:chOff x="0" y="0"/>
            <a:chExt cx="48492" cy="4869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000317" y="6584899"/>
            <a:ext cx="135310" cy="135879"/>
            <a:chOff x="0" y="0"/>
            <a:chExt cx="48492" cy="486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000317" y="4265196"/>
            <a:ext cx="135310" cy="135879"/>
            <a:chOff x="0" y="0"/>
            <a:chExt cx="48492" cy="4869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24028" y="4332527"/>
            <a:ext cx="4432173" cy="2319094"/>
            <a:chOff x="0" y="0"/>
            <a:chExt cx="2579739" cy="134982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556374" y="4263979"/>
            <a:ext cx="135310" cy="137096"/>
            <a:chOff x="0" y="0"/>
            <a:chExt cx="48492" cy="4913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556374" y="6583682"/>
            <a:ext cx="135310" cy="137096"/>
            <a:chOff x="0" y="0"/>
            <a:chExt cx="48492" cy="4913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988546" y="6582465"/>
            <a:ext cx="135310" cy="137096"/>
            <a:chOff x="0" y="0"/>
            <a:chExt cx="48492" cy="4913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988546" y="4263979"/>
            <a:ext cx="135310" cy="137096"/>
            <a:chOff x="0" y="0"/>
            <a:chExt cx="48492" cy="4913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783084" y="233256"/>
            <a:ext cx="7125832" cy="1237675"/>
            <a:chOff x="0" y="0"/>
            <a:chExt cx="2553737" cy="44355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553737" cy="443555"/>
            </a:xfrm>
            <a:custGeom>
              <a:avLst/>
              <a:gdLst/>
              <a:ahLst/>
              <a:cxnLst/>
              <a:rect l="l" t="t" r="r" b="b"/>
              <a:pathLst>
                <a:path w="2553737" h="443555">
                  <a:moveTo>
                    <a:pt x="0" y="0"/>
                  </a:moveTo>
                  <a:lnTo>
                    <a:pt x="2553737" y="0"/>
                  </a:lnTo>
                  <a:lnTo>
                    <a:pt x="2553737" y="443555"/>
                  </a:lnTo>
                  <a:lnTo>
                    <a:pt x="0" y="443555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2553737" cy="481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2180483" y="7030880"/>
            <a:ext cx="169006" cy="173795"/>
            <a:chOff x="0" y="0"/>
            <a:chExt cx="60568" cy="6228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4066114" y="7028958"/>
            <a:ext cx="169006" cy="173795"/>
            <a:chOff x="0" y="0"/>
            <a:chExt cx="60568" cy="6228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856282" y="7033522"/>
            <a:ext cx="169006" cy="173795"/>
            <a:chOff x="0" y="0"/>
            <a:chExt cx="60568" cy="6228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7902207" y="7036159"/>
            <a:ext cx="169006" cy="173795"/>
            <a:chOff x="0" y="0"/>
            <a:chExt cx="60568" cy="62284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sp>
        <p:nvSpPr>
          <p:cNvPr id="98" name="TextBox 98"/>
          <p:cNvSpPr txBox="1"/>
          <p:nvPr/>
        </p:nvSpPr>
        <p:spPr>
          <a:xfrm>
            <a:off x="804338" y="1747356"/>
            <a:ext cx="252212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01 MOLECULAR FORMULA</a:t>
            </a:r>
          </a:p>
        </p:txBody>
      </p:sp>
      <p:sp>
        <p:nvSpPr>
          <p:cNvPr id="99" name="AutoShape 99"/>
          <p:cNvSpPr/>
          <p:nvPr/>
        </p:nvSpPr>
        <p:spPr>
          <a:xfrm flipV="1">
            <a:off x="804338" y="2023581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0" name="AutoShape 100"/>
          <p:cNvSpPr/>
          <p:nvPr/>
        </p:nvSpPr>
        <p:spPr>
          <a:xfrm flipV="1">
            <a:off x="5818849" y="2031889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1" name="AutoShape 101"/>
          <p:cNvSpPr/>
          <p:nvPr/>
        </p:nvSpPr>
        <p:spPr>
          <a:xfrm flipV="1">
            <a:off x="810017" y="4666554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" name="AutoShape 102"/>
          <p:cNvSpPr/>
          <p:nvPr/>
        </p:nvSpPr>
        <p:spPr>
          <a:xfrm flipV="1">
            <a:off x="5818854" y="4655812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" name="Freeform 103"/>
          <p:cNvSpPr/>
          <p:nvPr/>
        </p:nvSpPr>
        <p:spPr>
          <a:xfrm>
            <a:off x="5739506" y="1916004"/>
            <a:ext cx="4192052" cy="2149823"/>
          </a:xfrm>
          <a:custGeom>
            <a:avLst/>
            <a:gdLst/>
            <a:ahLst/>
            <a:cxnLst/>
            <a:rect l="l" t="t" r="r" b="b"/>
            <a:pathLst>
              <a:path w="4192052" h="2149823">
                <a:moveTo>
                  <a:pt x="0" y="0"/>
                </a:moveTo>
                <a:lnTo>
                  <a:pt x="4192052" y="0"/>
                </a:lnTo>
                <a:lnTo>
                  <a:pt x="4192052" y="2149823"/>
                </a:lnTo>
                <a:lnTo>
                  <a:pt x="0" y="2149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4096" b="-50899"/>
            </a:stretch>
          </a:blipFill>
        </p:spPr>
      </p:sp>
      <p:sp>
        <p:nvSpPr>
          <p:cNvPr id="104" name="Freeform 104"/>
          <p:cNvSpPr/>
          <p:nvPr/>
        </p:nvSpPr>
        <p:spPr>
          <a:xfrm>
            <a:off x="6695349" y="4599293"/>
            <a:ext cx="2488669" cy="2121485"/>
          </a:xfrm>
          <a:custGeom>
            <a:avLst/>
            <a:gdLst/>
            <a:ahLst/>
            <a:cxnLst/>
            <a:rect l="l" t="t" r="r" b="b"/>
            <a:pathLst>
              <a:path w="2488669" h="2121485">
                <a:moveTo>
                  <a:pt x="0" y="0"/>
                </a:moveTo>
                <a:lnTo>
                  <a:pt x="2488669" y="0"/>
                </a:lnTo>
                <a:lnTo>
                  <a:pt x="2488669" y="2121485"/>
                </a:lnTo>
                <a:lnTo>
                  <a:pt x="0" y="21214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066" t="-5737" r="-6949" b="-4638"/>
            </a:stretch>
          </a:blipFill>
        </p:spPr>
      </p:sp>
      <p:sp>
        <p:nvSpPr>
          <p:cNvPr id="105" name="TextBox 105"/>
          <p:cNvSpPr txBox="1"/>
          <p:nvPr/>
        </p:nvSpPr>
        <p:spPr>
          <a:xfrm>
            <a:off x="0" y="7068086"/>
            <a:ext cx="1849079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7"/>
              </a:lnSpc>
            </a:pPr>
            <a:r>
              <a:rPr lang="en-US" sz="1612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Verification Strip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349489" y="6995035"/>
            <a:ext cx="1408955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atom count verified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291227" y="6992784"/>
            <a:ext cx="1137986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valence checked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066038" y="6985510"/>
            <a:ext cx="1489980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bond order checked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109269" y="6981333"/>
            <a:ext cx="2108023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same connectivity confirmed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3326465" y="345946"/>
            <a:ext cx="4039071" cy="524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2"/>
              </a:lnSpc>
            </a:pPr>
            <a:r>
              <a:rPr lang="en-US" sz="2959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04 </a:t>
            </a:r>
            <a:r>
              <a:rPr lang="en-US" sz="295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| ACETIC ACID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5818843" y="1746139"/>
            <a:ext cx="2120841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02 LEWIS STRUCTURE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804333" y="4353450"/>
            <a:ext cx="384065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03 CONDENSED STRUCTURAL FORMULA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818849" y="4353450"/>
            <a:ext cx="267704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04 BOND LINE STRUCTURE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4485645" y="813993"/>
            <a:ext cx="2276768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 dirty="0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IUPAC Name:</a:t>
            </a:r>
            <a:r>
              <a:rPr lang="en-US" sz="1400" dirty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Ethanoic acid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961084" y="2575459"/>
            <a:ext cx="1758876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C₂H₄O₂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417171" y="5086587"/>
            <a:ext cx="2869429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CH₃COOH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097766" y="1059350"/>
            <a:ext cx="3059606" cy="2369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 dirty="0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Molecular Formula: </a:t>
            </a:r>
            <a:r>
              <a:rPr lang="en-US" sz="1400" dirty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C₂H₄O₂</a:t>
            </a:r>
          </a:p>
        </p:txBody>
      </p:sp>
      <p:sp>
        <p:nvSpPr>
          <p:cNvPr id="118" name="Freeform 118"/>
          <p:cNvSpPr/>
          <p:nvPr/>
        </p:nvSpPr>
        <p:spPr>
          <a:xfrm>
            <a:off x="2180483" y="7046811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9" name="Freeform 119"/>
          <p:cNvSpPr/>
          <p:nvPr/>
        </p:nvSpPr>
        <p:spPr>
          <a:xfrm>
            <a:off x="4066114" y="7044174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0"/>
                </a:lnTo>
                <a:lnTo>
                  <a:pt x="0" y="1524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0" name="Freeform 120"/>
          <p:cNvSpPr/>
          <p:nvPr/>
        </p:nvSpPr>
        <p:spPr>
          <a:xfrm>
            <a:off x="5856282" y="7050502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1" name="Freeform 121"/>
          <p:cNvSpPr/>
          <p:nvPr/>
        </p:nvSpPr>
        <p:spPr>
          <a:xfrm>
            <a:off x="7902207" y="7050502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589" y="7128836"/>
            <a:ext cx="9476471" cy="267567"/>
            <a:chOff x="0" y="0"/>
            <a:chExt cx="3396153" cy="95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6153" cy="95890"/>
            </a:xfrm>
            <a:custGeom>
              <a:avLst/>
              <a:gdLst/>
              <a:ahLst/>
              <a:cxnLst/>
              <a:rect l="l" t="t" r="r" b="b"/>
              <a:pathLst>
                <a:path w="3396153" h="95890">
                  <a:moveTo>
                    <a:pt x="0" y="0"/>
                  </a:moveTo>
                  <a:lnTo>
                    <a:pt x="3396153" y="0"/>
                  </a:lnTo>
                  <a:lnTo>
                    <a:pt x="3396153" y="95890"/>
                  </a:lnTo>
                  <a:lnTo>
                    <a:pt x="0" y="9589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96153" cy="133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81286" y="6914001"/>
            <a:ext cx="1695142" cy="506827"/>
            <a:chOff x="0" y="0"/>
            <a:chExt cx="986654" cy="2949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86654" cy="294998"/>
            </a:xfrm>
            <a:custGeom>
              <a:avLst/>
              <a:gdLst/>
              <a:ahLst/>
              <a:cxnLst/>
              <a:rect l="l" t="t" r="r" b="b"/>
              <a:pathLst>
                <a:path w="986654" h="294998">
                  <a:moveTo>
                    <a:pt x="0" y="0"/>
                  </a:moveTo>
                  <a:lnTo>
                    <a:pt x="986654" y="0"/>
                  </a:lnTo>
                  <a:lnTo>
                    <a:pt x="986654" y="294998"/>
                  </a:lnTo>
                  <a:lnTo>
                    <a:pt x="0" y="29499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86654" cy="30452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80082" y="6914001"/>
            <a:ext cx="1855425" cy="469297"/>
            <a:chOff x="0" y="0"/>
            <a:chExt cx="1079947" cy="2731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947" cy="273154"/>
            </a:xfrm>
            <a:custGeom>
              <a:avLst/>
              <a:gdLst/>
              <a:ahLst/>
              <a:cxnLst/>
              <a:rect l="l" t="t" r="r" b="b"/>
              <a:pathLst>
                <a:path w="1079947" h="273154">
                  <a:moveTo>
                    <a:pt x="0" y="0"/>
                  </a:moveTo>
                  <a:lnTo>
                    <a:pt x="1079947" y="0"/>
                  </a:lnTo>
                  <a:lnTo>
                    <a:pt x="1079947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79947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35532" y="6914001"/>
            <a:ext cx="2457309" cy="469297"/>
            <a:chOff x="0" y="0"/>
            <a:chExt cx="1430273" cy="2731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30273" cy="273154"/>
            </a:xfrm>
            <a:custGeom>
              <a:avLst/>
              <a:gdLst/>
              <a:ahLst/>
              <a:cxnLst/>
              <a:rect l="l" t="t" r="r" b="b"/>
              <a:pathLst>
                <a:path w="1430273" h="273154">
                  <a:moveTo>
                    <a:pt x="0" y="0"/>
                  </a:moveTo>
                  <a:lnTo>
                    <a:pt x="1430273" y="0"/>
                  </a:lnTo>
                  <a:lnTo>
                    <a:pt x="1430273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430273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78098" y="6906516"/>
            <a:ext cx="1516234" cy="484269"/>
            <a:chOff x="0" y="0"/>
            <a:chExt cx="882522" cy="2818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2522" cy="281868"/>
            </a:xfrm>
            <a:custGeom>
              <a:avLst/>
              <a:gdLst/>
              <a:ahLst/>
              <a:cxnLst/>
              <a:rect l="l" t="t" r="r" b="b"/>
              <a:pathLst>
                <a:path w="882522" h="281868">
                  <a:moveTo>
                    <a:pt x="0" y="0"/>
                  </a:moveTo>
                  <a:lnTo>
                    <a:pt x="882522" y="0"/>
                  </a:lnTo>
                  <a:lnTo>
                    <a:pt x="882522" y="281868"/>
                  </a:lnTo>
                  <a:lnTo>
                    <a:pt x="0" y="28186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882522" cy="29139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203695" y="7298929"/>
            <a:ext cx="11099389" cy="821606"/>
            <a:chOff x="0" y="0"/>
            <a:chExt cx="7711097" cy="5707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711098" cy="570795"/>
            </a:xfrm>
            <a:custGeom>
              <a:avLst/>
              <a:gdLst/>
              <a:ahLst/>
              <a:cxnLst/>
              <a:rect l="l" t="t" r="r" b="b"/>
              <a:pathLst>
                <a:path w="7711098" h="570795">
                  <a:moveTo>
                    <a:pt x="0" y="0"/>
                  </a:moveTo>
                  <a:lnTo>
                    <a:pt x="7711098" y="0"/>
                  </a:lnTo>
                  <a:lnTo>
                    <a:pt x="7711098" y="570795"/>
                  </a:lnTo>
                  <a:lnTo>
                    <a:pt x="0" y="570795"/>
                  </a:lnTo>
                  <a:close/>
                </a:path>
              </a:pathLst>
            </a:custGeom>
            <a:solidFill>
              <a:srgbClr val="1800AD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711097" cy="589845"/>
            </a:xfrm>
            <a:prstGeom prst="rect">
              <a:avLst/>
            </a:prstGeom>
          </p:spPr>
          <p:txBody>
            <a:bodyPr lIns="26205" tIns="26205" rIns="26205" bIns="26205" rtlCol="0" anchor="ctr"/>
            <a:lstStyle/>
            <a:p>
              <a:pPr algn="ctr">
                <a:lnSpc>
                  <a:spcPts val="101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2016451" y="7006951"/>
            <a:ext cx="3998045" cy="313443"/>
            <a:chOff x="0" y="0"/>
            <a:chExt cx="2346804" cy="1839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46804" cy="183987"/>
            </a:xfrm>
            <a:custGeom>
              <a:avLst/>
              <a:gdLst/>
              <a:ahLst/>
              <a:cxnLst/>
              <a:rect l="l" t="t" r="r" b="b"/>
              <a:pathLst>
                <a:path w="2346804" h="183987">
                  <a:moveTo>
                    <a:pt x="203200" y="0"/>
                  </a:moveTo>
                  <a:lnTo>
                    <a:pt x="2143604" y="0"/>
                  </a:lnTo>
                  <a:lnTo>
                    <a:pt x="2346804" y="183987"/>
                  </a:lnTo>
                  <a:lnTo>
                    <a:pt x="0" y="18398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27000" y="-38100"/>
              <a:ext cx="2092804" cy="222087"/>
            </a:xfrm>
            <a:prstGeom prst="rect">
              <a:avLst/>
            </a:prstGeom>
          </p:spPr>
          <p:txBody>
            <a:bodyPr lIns="72901" tIns="72901" rIns="72901" bIns="72901" rtlCol="0" anchor="ctr"/>
            <a:lstStyle/>
            <a:p>
              <a:pPr algn="ctr">
                <a:lnSpc>
                  <a:spcPts val="180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799" y="1725825"/>
            <a:ext cx="4432173" cy="2319703"/>
            <a:chOff x="0" y="0"/>
            <a:chExt cx="2579739" cy="135017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8144" y="1657885"/>
            <a:ext cx="135310" cy="135879"/>
            <a:chOff x="0" y="0"/>
            <a:chExt cx="48492" cy="486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8144" y="3977588"/>
            <a:ext cx="135310" cy="135879"/>
            <a:chOff x="0" y="0"/>
            <a:chExt cx="48492" cy="486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000317" y="3977588"/>
            <a:ext cx="135310" cy="135879"/>
            <a:chOff x="0" y="0"/>
            <a:chExt cx="48492" cy="4869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000317" y="1657885"/>
            <a:ext cx="135310" cy="135879"/>
            <a:chOff x="0" y="0"/>
            <a:chExt cx="48492" cy="4869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24028" y="1725216"/>
            <a:ext cx="4432173" cy="2319094"/>
            <a:chOff x="0" y="0"/>
            <a:chExt cx="2579739" cy="134982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56374" y="1656668"/>
            <a:ext cx="135310" cy="137096"/>
            <a:chOff x="0" y="0"/>
            <a:chExt cx="48492" cy="4913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56374" y="3976371"/>
            <a:ext cx="135310" cy="137096"/>
            <a:chOff x="0" y="0"/>
            <a:chExt cx="48492" cy="4913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988546" y="3975154"/>
            <a:ext cx="135310" cy="137096"/>
            <a:chOff x="0" y="0"/>
            <a:chExt cx="48492" cy="4913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988546" y="1656668"/>
            <a:ext cx="135310" cy="137096"/>
            <a:chOff x="0" y="0"/>
            <a:chExt cx="48492" cy="4913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35799" y="4333136"/>
            <a:ext cx="4432173" cy="2319703"/>
            <a:chOff x="0" y="0"/>
            <a:chExt cx="2579739" cy="135017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8144" y="4265196"/>
            <a:ext cx="135310" cy="135879"/>
            <a:chOff x="0" y="0"/>
            <a:chExt cx="48492" cy="4869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8144" y="6584899"/>
            <a:ext cx="135310" cy="135879"/>
            <a:chOff x="0" y="0"/>
            <a:chExt cx="48492" cy="4869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000317" y="6584899"/>
            <a:ext cx="135310" cy="135879"/>
            <a:chOff x="0" y="0"/>
            <a:chExt cx="48492" cy="486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000317" y="4265196"/>
            <a:ext cx="135310" cy="135879"/>
            <a:chOff x="0" y="0"/>
            <a:chExt cx="48492" cy="4869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24028" y="4332527"/>
            <a:ext cx="4432173" cy="2319094"/>
            <a:chOff x="0" y="0"/>
            <a:chExt cx="2579739" cy="134982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556374" y="4263979"/>
            <a:ext cx="135310" cy="137096"/>
            <a:chOff x="0" y="0"/>
            <a:chExt cx="48492" cy="4913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556374" y="6583682"/>
            <a:ext cx="135310" cy="137096"/>
            <a:chOff x="0" y="0"/>
            <a:chExt cx="48492" cy="4913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988546" y="6582465"/>
            <a:ext cx="135310" cy="137096"/>
            <a:chOff x="0" y="0"/>
            <a:chExt cx="48492" cy="4913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988546" y="4263979"/>
            <a:ext cx="135310" cy="137096"/>
            <a:chOff x="0" y="0"/>
            <a:chExt cx="48492" cy="4913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783084" y="233256"/>
            <a:ext cx="7125832" cy="1237675"/>
            <a:chOff x="0" y="0"/>
            <a:chExt cx="2553737" cy="44355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553737" cy="443555"/>
            </a:xfrm>
            <a:custGeom>
              <a:avLst/>
              <a:gdLst/>
              <a:ahLst/>
              <a:cxnLst/>
              <a:rect l="l" t="t" r="r" b="b"/>
              <a:pathLst>
                <a:path w="2553737" h="443555">
                  <a:moveTo>
                    <a:pt x="0" y="0"/>
                  </a:moveTo>
                  <a:lnTo>
                    <a:pt x="2553737" y="0"/>
                  </a:lnTo>
                  <a:lnTo>
                    <a:pt x="2553737" y="443555"/>
                  </a:lnTo>
                  <a:lnTo>
                    <a:pt x="0" y="443555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2553737" cy="481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2180483" y="7030880"/>
            <a:ext cx="169006" cy="173795"/>
            <a:chOff x="0" y="0"/>
            <a:chExt cx="60568" cy="6228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4066114" y="7028958"/>
            <a:ext cx="169006" cy="173795"/>
            <a:chOff x="0" y="0"/>
            <a:chExt cx="60568" cy="6228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856282" y="7033522"/>
            <a:ext cx="169006" cy="173795"/>
            <a:chOff x="0" y="0"/>
            <a:chExt cx="60568" cy="6228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7902207" y="7036159"/>
            <a:ext cx="169006" cy="173795"/>
            <a:chOff x="0" y="0"/>
            <a:chExt cx="60568" cy="62284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sp>
        <p:nvSpPr>
          <p:cNvPr id="98" name="TextBox 98"/>
          <p:cNvSpPr txBox="1"/>
          <p:nvPr/>
        </p:nvSpPr>
        <p:spPr>
          <a:xfrm>
            <a:off x="804338" y="1747356"/>
            <a:ext cx="255905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01 MOLECULAR FORMULA</a:t>
            </a:r>
          </a:p>
        </p:txBody>
      </p:sp>
      <p:sp>
        <p:nvSpPr>
          <p:cNvPr id="99" name="AutoShape 99"/>
          <p:cNvSpPr/>
          <p:nvPr/>
        </p:nvSpPr>
        <p:spPr>
          <a:xfrm flipV="1">
            <a:off x="804338" y="2023581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0" name="AutoShape 100"/>
          <p:cNvSpPr/>
          <p:nvPr/>
        </p:nvSpPr>
        <p:spPr>
          <a:xfrm flipV="1">
            <a:off x="5818849" y="2031889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1" name="AutoShape 101"/>
          <p:cNvSpPr/>
          <p:nvPr/>
        </p:nvSpPr>
        <p:spPr>
          <a:xfrm flipV="1">
            <a:off x="810017" y="4666554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" name="AutoShape 102"/>
          <p:cNvSpPr/>
          <p:nvPr/>
        </p:nvSpPr>
        <p:spPr>
          <a:xfrm flipV="1">
            <a:off x="5818854" y="4655812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" name="Freeform 103"/>
          <p:cNvSpPr/>
          <p:nvPr/>
        </p:nvSpPr>
        <p:spPr>
          <a:xfrm>
            <a:off x="5739506" y="2127217"/>
            <a:ext cx="4192052" cy="1729061"/>
          </a:xfrm>
          <a:custGeom>
            <a:avLst/>
            <a:gdLst/>
            <a:ahLst/>
            <a:cxnLst/>
            <a:rect l="l" t="t" r="r" b="b"/>
            <a:pathLst>
              <a:path w="4192052" h="1729061">
                <a:moveTo>
                  <a:pt x="0" y="0"/>
                </a:moveTo>
                <a:lnTo>
                  <a:pt x="4192052" y="0"/>
                </a:lnTo>
                <a:lnTo>
                  <a:pt x="4192052" y="1729060"/>
                </a:lnTo>
                <a:lnTo>
                  <a:pt x="0" y="1729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4082" b="-78364"/>
            </a:stretch>
          </a:blipFill>
        </p:spPr>
      </p:sp>
      <p:sp>
        <p:nvSpPr>
          <p:cNvPr id="104" name="Freeform 104"/>
          <p:cNvSpPr/>
          <p:nvPr/>
        </p:nvSpPr>
        <p:spPr>
          <a:xfrm>
            <a:off x="6204318" y="4671316"/>
            <a:ext cx="3564783" cy="1946263"/>
          </a:xfrm>
          <a:custGeom>
            <a:avLst/>
            <a:gdLst/>
            <a:ahLst/>
            <a:cxnLst/>
            <a:rect l="l" t="t" r="r" b="b"/>
            <a:pathLst>
              <a:path w="3564783" h="1946263">
                <a:moveTo>
                  <a:pt x="0" y="0"/>
                </a:moveTo>
                <a:lnTo>
                  <a:pt x="3564784" y="0"/>
                </a:lnTo>
                <a:lnTo>
                  <a:pt x="3564784" y="1946263"/>
                </a:lnTo>
                <a:lnTo>
                  <a:pt x="0" y="1946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94" t="-5506" b="-3744"/>
            </a:stretch>
          </a:blipFill>
        </p:spPr>
      </p:sp>
      <p:sp>
        <p:nvSpPr>
          <p:cNvPr id="105" name="TextBox 105"/>
          <p:cNvSpPr txBox="1"/>
          <p:nvPr/>
        </p:nvSpPr>
        <p:spPr>
          <a:xfrm>
            <a:off x="0" y="7068086"/>
            <a:ext cx="1849079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7"/>
              </a:lnSpc>
            </a:pPr>
            <a:r>
              <a:rPr lang="en-US" sz="1612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Verification Strip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349489" y="6995035"/>
            <a:ext cx="1408955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atom count verified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291227" y="6992784"/>
            <a:ext cx="1137986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valence checked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066038" y="6985510"/>
            <a:ext cx="1489980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bond order checked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109269" y="6981333"/>
            <a:ext cx="2108023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same connectivity confirmed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3049821" y="311958"/>
            <a:ext cx="4592358" cy="524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2"/>
              </a:lnSpc>
            </a:pPr>
            <a:r>
              <a:rPr lang="en-US" sz="2959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05 </a:t>
            </a:r>
            <a:r>
              <a:rPr lang="en-US" sz="295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| ETHYL ACETATE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5818843" y="1746139"/>
            <a:ext cx="216786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02 LEWIS STRUCTURE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804333" y="4353450"/>
            <a:ext cx="384065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03 CONDENSED STRUCTURAL FORMULA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818849" y="4353450"/>
            <a:ext cx="267704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04 BOND LINE STRUCTURE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4235120" y="798767"/>
            <a:ext cx="2441939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IUPAC Name:</a:t>
            </a:r>
            <a:r>
              <a:rPr lang="en-US" sz="1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Ethyl ethanoate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961084" y="2575459"/>
            <a:ext cx="1758876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C₄H₈O₂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892700" y="5190429"/>
            <a:ext cx="3918371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CH₃COOCH₂CH₃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181285" y="1054053"/>
            <a:ext cx="239083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Molecular Formula</a:t>
            </a:r>
            <a:r>
              <a:rPr lang="en-US" sz="1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: C₄H₈O₂</a:t>
            </a:r>
          </a:p>
        </p:txBody>
      </p:sp>
      <p:sp>
        <p:nvSpPr>
          <p:cNvPr id="118" name="Freeform 118"/>
          <p:cNvSpPr/>
          <p:nvPr/>
        </p:nvSpPr>
        <p:spPr>
          <a:xfrm>
            <a:off x="2180483" y="7046811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9" name="Freeform 119"/>
          <p:cNvSpPr/>
          <p:nvPr/>
        </p:nvSpPr>
        <p:spPr>
          <a:xfrm>
            <a:off x="4066114" y="7041532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0"/>
                </a:lnTo>
                <a:lnTo>
                  <a:pt x="0" y="1524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0" name="Freeform 120"/>
          <p:cNvSpPr/>
          <p:nvPr/>
        </p:nvSpPr>
        <p:spPr>
          <a:xfrm>
            <a:off x="5856282" y="7052184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1" name="Freeform 121"/>
          <p:cNvSpPr/>
          <p:nvPr/>
        </p:nvSpPr>
        <p:spPr>
          <a:xfrm>
            <a:off x="7902207" y="7059714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0"/>
                </a:lnTo>
                <a:lnTo>
                  <a:pt x="0" y="1524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589" y="7128836"/>
            <a:ext cx="9476471" cy="267567"/>
            <a:chOff x="0" y="0"/>
            <a:chExt cx="3396153" cy="95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6153" cy="95890"/>
            </a:xfrm>
            <a:custGeom>
              <a:avLst/>
              <a:gdLst/>
              <a:ahLst/>
              <a:cxnLst/>
              <a:rect l="l" t="t" r="r" b="b"/>
              <a:pathLst>
                <a:path w="3396153" h="95890">
                  <a:moveTo>
                    <a:pt x="0" y="0"/>
                  </a:moveTo>
                  <a:lnTo>
                    <a:pt x="3396153" y="0"/>
                  </a:lnTo>
                  <a:lnTo>
                    <a:pt x="3396153" y="95890"/>
                  </a:lnTo>
                  <a:lnTo>
                    <a:pt x="0" y="9589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96153" cy="133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81286" y="6914001"/>
            <a:ext cx="1695142" cy="506827"/>
            <a:chOff x="0" y="0"/>
            <a:chExt cx="986654" cy="2949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86654" cy="294998"/>
            </a:xfrm>
            <a:custGeom>
              <a:avLst/>
              <a:gdLst/>
              <a:ahLst/>
              <a:cxnLst/>
              <a:rect l="l" t="t" r="r" b="b"/>
              <a:pathLst>
                <a:path w="986654" h="294998">
                  <a:moveTo>
                    <a:pt x="0" y="0"/>
                  </a:moveTo>
                  <a:lnTo>
                    <a:pt x="986654" y="0"/>
                  </a:lnTo>
                  <a:lnTo>
                    <a:pt x="986654" y="294998"/>
                  </a:lnTo>
                  <a:lnTo>
                    <a:pt x="0" y="29499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86654" cy="30452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80082" y="6914001"/>
            <a:ext cx="1855425" cy="469297"/>
            <a:chOff x="0" y="0"/>
            <a:chExt cx="1079947" cy="2731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947" cy="273154"/>
            </a:xfrm>
            <a:custGeom>
              <a:avLst/>
              <a:gdLst/>
              <a:ahLst/>
              <a:cxnLst/>
              <a:rect l="l" t="t" r="r" b="b"/>
              <a:pathLst>
                <a:path w="1079947" h="273154">
                  <a:moveTo>
                    <a:pt x="0" y="0"/>
                  </a:moveTo>
                  <a:lnTo>
                    <a:pt x="1079947" y="0"/>
                  </a:lnTo>
                  <a:lnTo>
                    <a:pt x="1079947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79947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35532" y="6914001"/>
            <a:ext cx="2457309" cy="469297"/>
            <a:chOff x="0" y="0"/>
            <a:chExt cx="1430273" cy="2731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30273" cy="273154"/>
            </a:xfrm>
            <a:custGeom>
              <a:avLst/>
              <a:gdLst/>
              <a:ahLst/>
              <a:cxnLst/>
              <a:rect l="l" t="t" r="r" b="b"/>
              <a:pathLst>
                <a:path w="1430273" h="273154">
                  <a:moveTo>
                    <a:pt x="0" y="0"/>
                  </a:moveTo>
                  <a:lnTo>
                    <a:pt x="1430273" y="0"/>
                  </a:lnTo>
                  <a:lnTo>
                    <a:pt x="1430273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430273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78098" y="6906516"/>
            <a:ext cx="1516234" cy="484269"/>
            <a:chOff x="0" y="0"/>
            <a:chExt cx="882522" cy="2818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2522" cy="281868"/>
            </a:xfrm>
            <a:custGeom>
              <a:avLst/>
              <a:gdLst/>
              <a:ahLst/>
              <a:cxnLst/>
              <a:rect l="l" t="t" r="r" b="b"/>
              <a:pathLst>
                <a:path w="882522" h="281868">
                  <a:moveTo>
                    <a:pt x="0" y="0"/>
                  </a:moveTo>
                  <a:lnTo>
                    <a:pt x="882522" y="0"/>
                  </a:lnTo>
                  <a:lnTo>
                    <a:pt x="882522" y="281868"/>
                  </a:lnTo>
                  <a:lnTo>
                    <a:pt x="0" y="28186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882522" cy="29139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203695" y="7298929"/>
            <a:ext cx="11099389" cy="821606"/>
            <a:chOff x="0" y="0"/>
            <a:chExt cx="7711097" cy="5707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711098" cy="570795"/>
            </a:xfrm>
            <a:custGeom>
              <a:avLst/>
              <a:gdLst/>
              <a:ahLst/>
              <a:cxnLst/>
              <a:rect l="l" t="t" r="r" b="b"/>
              <a:pathLst>
                <a:path w="7711098" h="570795">
                  <a:moveTo>
                    <a:pt x="0" y="0"/>
                  </a:moveTo>
                  <a:lnTo>
                    <a:pt x="7711098" y="0"/>
                  </a:lnTo>
                  <a:lnTo>
                    <a:pt x="7711098" y="570795"/>
                  </a:lnTo>
                  <a:lnTo>
                    <a:pt x="0" y="570795"/>
                  </a:lnTo>
                  <a:close/>
                </a:path>
              </a:pathLst>
            </a:custGeom>
            <a:solidFill>
              <a:srgbClr val="1800AD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711097" cy="589845"/>
            </a:xfrm>
            <a:prstGeom prst="rect">
              <a:avLst/>
            </a:prstGeom>
          </p:spPr>
          <p:txBody>
            <a:bodyPr lIns="26205" tIns="26205" rIns="26205" bIns="26205" rtlCol="0" anchor="ctr"/>
            <a:lstStyle/>
            <a:p>
              <a:pPr algn="ctr">
                <a:lnSpc>
                  <a:spcPts val="101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2016451" y="7006951"/>
            <a:ext cx="3998045" cy="313443"/>
            <a:chOff x="0" y="0"/>
            <a:chExt cx="2346804" cy="1839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46804" cy="183987"/>
            </a:xfrm>
            <a:custGeom>
              <a:avLst/>
              <a:gdLst/>
              <a:ahLst/>
              <a:cxnLst/>
              <a:rect l="l" t="t" r="r" b="b"/>
              <a:pathLst>
                <a:path w="2346804" h="183987">
                  <a:moveTo>
                    <a:pt x="203200" y="0"/>
                  </a:moveTo>
                  <a:lnTo>
                    <a:pt x="2143604" y="0"/>
                  </a:lnTo>
                  <a:lnTo>
                    <a:pt x="2346804" y="183987"/>
                  </a:lnTo>
                  <a:lnTo>
                    <a:pt x="0" y="18398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27000" y="-38100"/>
              <a:ext cx="2092804" cy="222087"/>
            </a:xfrm>
            <a:prstGeom prst="rect">
              <a:avLst/>
            </a:prstGeom>
          </p:spPr>
          <p:txBody>
            <a:bodyPr lIns="72901" tIns="72901" rIns="72901" bIns="72901" rtlCol="0" anchor="ctr"/>
            <a:lstStyle/>
            <a:p>
              <a:pPr algn="ctr">
                <a:lnSpc>
                  <a:spcPts val="180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799" y="1725825"/>
            <a:ext cx="4432173" cy="2319703"/>
            <a:chOff x="0" y="0"/>
            <a:chExt cx="2579739" cy="135017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8144" y="1657885"/>
            <a:ext cx="135310" cy="135879"/>
            <a:chOff x="0" y="0"/>
            <a:chExt cx="48492" cy="486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8144" y="3977588"/>
            <a:ext cx="135310" cy="135879"/>
            <a:chOff x="0" y="0"/>
            <a:chExt cx="48492" cy="486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000317" y="3977588"/>
            <a:ext cx="135310" cy="135879"/>
            <a:chOff x="0" y="0"/>
            <a:chExt cx="48492" cy="4869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000317" y="1657885"/>
            <a:ext cx="135310" cy="135879"/>
            <a:chOff x="0" y="0"/>
            <a:chExt cx="48492" cy="4869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24028" y="1725216"/>
            <a:ext cx="4432173" cy="2319094"/>
            <a:chOff x="0" y="0"/>
            <a:chExt cx="2579739" cy="134982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56374" y="1656668"/>
            <a:ext cx="135310" cy="137096"/>
            <a:chOff x="0" y="0"/>
            <a:chExt cx="48492" cy="4913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56374" y="3976371"/>
            <a:ext cx="135310" cy="137096"/>
            <a:chOff x="0" y="0"/>
            <a:chExt cx="48492" cy="4913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988546" y="3975154"/>
            <a:ext cx="135310" cy="137096"/>
            <a:chOff x="0" y="0"/>
            <a:chExt cx="48492" cy="4913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988546" y="1656668"/>
            <a:ext cx="135310" cy="137096"/>
            <a:chOff x="0" y="0"/>
            <a:chExt cx="48492" cy="4913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35799" y="4333136"/>
            <a:ext cx="4432173" cy="2319703"/>
            <a:chOff x="0" y="0"/>
            <a:chExt cx="2579739" cy="135017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8144" y="4265196"/>
            <a:ext cx="135310" cy="135879"/>
            <a:chOff x="0" y="0"/>
            <a:chExt cx="48492" cy="4869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8144" y="6584899"/>
            <a:ext cx="135310" cy="135879"/>
            <a:chOff x="0" y="0"/>
            <a:chExt cx="48492" cy="4869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000317" y="6584899"/>
            <a:ext cx="135310" cy="135879"/>
            <a:chOff x="0" y="0"/>
            <a:chExt cx="48492" cy="486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000317" y="4265196"/>
            <a:ext cx="135310" cy="135879"/>
            <a:chOff x="0" y="0"/>
            <a:chExt cx="48492" cy="4869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24028" y="4332527"/>
            <a:ext cx="4432173" cy="2319094"/>
            <a:chOff x="0" y="0"/>
            <a:chExt cx="2579739" cy="134982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556374" y="4263979"/>
            <a:ext cx="135310" cy="137096"/>
            <a:chOff x="0" y="0"/>
            <a:chExt cx="48492" cy="4913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556374" y="6583682"/>
            <a:ext cx="135310" cy="137096"/>
            <a:chOff x="0" y="0"/>
            <a:chExt cx="48492" cy="4913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988546" y="6582465"/>
            <a:ext cx="135310" cy="137096"/>
            <a:chOff x="0" y="0"/>
            <a:chExt cx="48492" cy="4913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988546" y="4263979"/>
            <a:ext cx="135310" cy="137096"/>
            <a:chOff x="0" y="0"/>
            <a:chExt cx="48492" cy="4913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783084" y="233256"/>
            <a:ext cx="7125832" cy="1237675"/>
            <a:chOff x="0" y="0"/>
            <a:chExt cx="2553737" cy="44355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553737" cy="443555"/>
            </a:xfrm>
            <a:custGeom>
              <a:avLst/>
              <a:gdLst/>
              <a:ahLst/>
              <a:cxnLst/>
              <a:rect l="l" t="t" r="r" b="b"/>
              <a:pathLst>
                <a:path w="2553737" h="443555">
                  <a:moveTo>
                    <a:pt x="0" y="0"/>
                  </a:moveTo>
                  <a:lnTo>
                    <a:pt x="2553737" y="0"/>
                  </a:lnTo>
                  <a:lnTo>
                    <a:pt x="2553737" y="443555"/>
                  </a:lnTo>
                  <a:lnTo>
                    <a:pt x="0" y="443555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2553737" cy="481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2180483" y="7030880"/>
            <a:ext cx="169006" cy="173795"/>
            <a:chOff x="0" y="0"/>
            <a:chExt cx="60568" cy="6228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4066114" y="7028958"/>
            <a:ext cx="169006" cy="173795"/>
            <a:chOff x="0" y="0"/>
            <a:chExt cx="60568" cy="6228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856282" y="7033522"/>
            <a:ext cx="169006" cy="173795"/>
            <a:chOff x="0" y="0"/>
            <a:chExt cx="60568" cy="6228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7902207" y="7036159"/>
            <a:ext cx="169006" cy="173795"/>
            <a:chOff x="0" y="0"/>
            <a:chExt cx="60568" cy="62284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sp>
        <p:nvSpPr>
          <p:cNvPr id="98" name="TextBox 98"/>
          <p:cNvSpPr txBox="1"/>
          <p:nvPr/>
        </p:nvSpPr>
        <p:spPr>
          <a:xfrm>
            <a:off x="804338" y="1747356"/>
            <a:ext cx="249988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01 MOLECULAR FORMULA</a:t>
            </a:r>
          </a:p>
        </p:txBody>
      </p:sp>
      <p:sp>
        <p:nvSpPr>
          <p:cNvPr id="99" name="AutoShape 99"/>
          <p:cNvSpPr/>
          <p:nvPr/>
        </p:nvSpPr>
        <p:spPr>
          <a:xfrm flipV="1">
            <a:off x="804338" y="2023581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0" name="AutoShape 100"/>
          <p:cNvSpPr/>
          <p:nvPr/>
        </p:nvSpPr>
        <p:spPr>
          <a:xfrm flipV="1">
            <a:off x="5818849" y="2031889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1" name="AutoShape 101"/>
          <p:cNvSpPr/>
          <p:nvPr/>
        </p:nvSpPr>
        <p:spPr>
          <a:xfrm flipV="1">
            <a:off x="810017" y="4666554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" name="AutoShape 102"/>
          <p:cNvSpPr/>
          <p:nvPr/>
        </p:nvSpPr>
        <p:spPr>
          <a:xfrm flipV="1">
            <a:off x="5818854" y="4655812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" name="Freeform 103"/>
          <p:cNvSpPr/>
          <p:nvPr/>
        </p:nvSpPr>
        <p:spPr>
          <a:xfrm>
            <a:off x="6787552" y="1908064"/>
            <a:ext cx="2304261" cy="2304261"/>
          </a:xfrm>
          <a:custGeom>
            <a:avLst/>
            <a:gdLst/>
            <a:ahLst/>
            <a:cxnLst/>
            <a:rect l="l" t="t" r="r" b="b"/>
            <a:pathLst>
              <a:path w="2304261" h="2304261">
                <a:moveTo>
                  <a:pt x="0" y="0"/>
                </a:moveTo>
                <a:lnTo>
                  <a:pt x="2304261" y="0"/>
                </a:lnTo>
                <a:lnTo>
                  <a:pt x="2304261" y="2304261"/>
                </a:lnTo>
                <a:lnTo>
                  <a:pt x="0" y="23042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4" name="Freeform 104"/>
          <p:cNvSpPr/>
          <p:nvPr/>
        </p:nvSpPr>
        <p:spPr>
          <a:xfrm>
            <a:off x="6994211" y="4755675"/>
            <a:ext cx="1890943" cy="1729932"/>
          </a:xfrm>
          <a:custGeom>
            <a:avLst/>
            <a:gdLst/>
            <a:ahLst/>
            <a:cxnLst/>
            <a:rect l="l" t="t" r="r" b="b"/>
            <a:pathLst>
              <a:path w="1890943" h="1729932">
                <a:moveTo>
                  <a:pt x="0" y="0"/>
                </a:moveTo>
                <a:lnTo>
                  <a:pt x="1890943" y="0"/>
                </a:lnTo>
                <a:lnTo>
                  <a:pt x="1890943" y="1729933"/>
                </a:lnTo>
                <a:lnTo>
                  <a:pt x="0" y="17299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5" name="TextBox 105"/>
          <p:cNvSpPr txBox="1"/>
          <p:nvPr/>
        </p:nvSpPr>
        <p:spPr>
          <a:xfrm>
            <a:off x="0" y="7068086"/>
            <a:ext cx="1849079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7"/>
              </a:lnSpc>
            </a:pPr>
            <a:r>
              <a:rPr lang="en-US" sz="1612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Verification Strip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349489" y="6995035"/>
            <a:ext cx="1408955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atom count verified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291227" y="6992784"/>
            <a:ext cx="1137986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valence checked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066038" y="6985510"/>
            <a:ext cx="1489980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bond order checked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109269" y="6981333"/>
            <a:ext cx="2108023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same connectivity confirmed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2954598" y="336421"/>
            <a:ext cx="4782805" cy="524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2"/>
              </a:lnSpc>
            </a:pPr>
            <a:r>
              <a:rPr lang="en-US" sz="2959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06 </a:t>
            </a:r>
            <a:r>
              <a:rPr lang="en-US" sz="295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| CYCLOHEXANE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5818843" y="1746139"/>
            <a:ext cx="2120839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02 LEWIS STRUCTURE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804333" y="4353450"/>
            <a:ext cx="384065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03 CONDENSED STRUCTURAL FORMULA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818849" y="4353450"/>
            <a:ext cx="267704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04 BOND LINE STRUCTURE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4317749" y="813993"/>
            <a:ext cx="2222929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IUPAC Name:</a:t>
            </a:r>
            <a:r>
              <a:rPr lang="en-US" sz="1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Cyclohexane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961084" y="2575459"/>
            <a:ext cx="1758876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C₆H₁₂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417171" y="5086587"/>
            <a:ext cx="2869429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(CH₂)₆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91227" y="1054053"/>
            <a:ext cx="2222929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Molecular Formula: </a:t>
            </a:r>
            <a:r>
              <a:rPr lang="en-US" sz="1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C₆H₁₂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472169" y="5842089"/>
            <a:ext cx="2736707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 i="1">
                <a:solidFill>
                  <a:srgbClr val="545454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(cyclic; six CH₂ groups form a ring)</a:t>
            </a:r>
          </a:p>
        </p:txBody>
      </p:sp>
      <p:sp>
        <p:nvSpPr>
          <p:cNvPr id="119" name="Freeform 119"/>
          <p:cNvSpPr/>
          <p:nvPr/>
        </p:nvSpPr>
        <p:spPr>
          <a:xfrm>
            <a:off x="7902207" y="7050502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0" name="Freeform 120"/>
          <p:cNvSpPr/>
          <p:nvPr/>
        </p:nvSpPr>
        <p:spPr>
          <a:xfrm>
            <a:off x="5856282" y="7046424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1" name="Freeform 121"/>
          <p:cNvSpPr/>
          <p:nvPr/>
        </p:nvSpPr>
        <p:spPr>
          <a:xfrm>
            <a:off x="2180483" y="7046811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2" name="Freeform 122"/>
          <p:cNvSpPr/>
          <p:nvPr/>
        </p:nvSpPr>
        <p:spPr>
          <a:xfrm>
            <a:off x="4066114" y="7041532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0"/>
                </a:lnTo>
                <a:lnTo>
                  <a:pt x="0" y="1524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589" y="7128836"/>
            <a:ext cx="9476471" cy="267567"/>
            <a:chOff x="0" y="0"/>
            <a:chExt cx="3396153" cy="95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6153" cy="95890"/>
            </a:xfrm>
            <a:custGeom>
              <a:avLst/>
              <a:gdLst/>
              <a:ahLst/>
              <a:cxnLst/>
              <a:rect l="l" t="t" r="r" b="b"/>
              <a:pathLst>
                <a:path w="3396153" h="95890">
                  <a:moveTo>
                    <a:pt x="0" y="0"/>
                  </a:moveTo>
                  <a:lnTo>
                    <a:pt x="3396153" y="0"/>
                  </a:lnTo>
                  <a:lnTo>
                    <a:pt x="3396153" y="95890"/>
                  </a:lnTo>
                  <a:lnTo>
                    <a:pt x="0" y="9589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96153" cy="133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81286" y="6914001"/>
            <a:ext cx="1695142" cy="506827"/>
            <a:chOff x="0" y="0"/>
            <a:chExt cx="986654" cy="2949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86654" cy="294998"/>
            </a:xfrm>
            <a:custGeom>
              <a:avLst/>
              <a:gdLst/>
              <a:ahLst/>
              <a:cxnLst/>
              <a:rect l="l" t="t" r="r" b="b"/>
              <a:pathLst>
                <a:path w="986654" h="294998">
                  <a:moveTo>
                    <a:pt x="0" y="0"/>
                  </a:moveTo>
                  <a:lnTo>
                    <a:pt x="986654" y="0"/>
                  </a:lnTo>
                  <a:lnTo>
                    <a:pt x="986654" y="294998"/>
                  </a:lnTo>
                  <a:lnTo>
                    <a:pt x="0" y="29499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86654" cy="30452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80082" y="6914001"/>
            <a:ext cx="1855425" cy="469297"/>
            <a:chOff x="0" y="0"/>
            <a:chExt cx="1079947" cy="2731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947" cy="273154"/>
            </a:xfrm>
            <a:custGeom>
              <a:avLst/>
              <a:gdLst/>
              <a:ahLst/>
              <a:cxnLst/>
              <a:rect l="l" t="t" r="r" b="b"/>
              <a:pathLst>
                <a:path w="1079947" h="273154">
                  <a:moveTo>
                    <a:pt x="0" y="0"/>
                  </a:moveTo>
                  <a:lnTo>
                    <a:pt x="1079947" y="0"/>
                  </a:lnTo>
                  <a:lnTo>
                    <a:pt x="1079947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79947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35532" y="6914001"/>
            <a:ext cx="2457309" cy="469297"/>
            <a:chOff x="0" y="0"/>
            <a:chExt cx="1430273" cy="2731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30273" cy="273154"/>
            </a:xfrm>
            <a:custGeom>
              <a:avLst/>
              <a:gdLst/>
              <a:ahLst/>
              <a:cxnLst/>
              <a:rect l="l" t="t" r="r" b="b"/>
              <a:pathLst>
                <a:path w="1430273" h="273154">
                  <a:moveTo>
                    <a:pt x="0" y="0"/>
                  </a:moveTo>
                  <a:lnTo>
                    <a:pt x="1430273" y="0"/>
                  </a:lnTo>
                  <a:lnTo>
                    <a:pt x="1430273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430273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78098" y="6906516"/>
            <a:ext cx="1516234" cy="484269"/>
            <a:chOff x="0" y="0"/>
            <a:chExt cx="882522" cy="2818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2522" cy="281868"/>
            </a:xfrm>
            <a:custGeom>
              <a:avLst/>
              <a:gdLst/>
              <a:ahLst/>
              <a:cxnLst/>
              <a:rect l="l" t="t" r="r" b="b"/>
              <a:pathLst>
                <a:path w="882522" h="281868">
                  <a:moveTo>
                    <a:pt x="0" y="0"/>
                  </a:moveTo>
                  <a:lnTo>
                    <a:pt x="882522" y="0"/>
                  </a:lnTo>
                  <a:lnTo>
                    <a:pt x="882522" y="281868"/>
                  </a:lnTo>
                  <a:lnTo>
                    <a:pt x="0" y="28186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882522" cy="29139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203695" y="7298929"/>
            <a:ext cx="11099389" cy="821606"/>
            <a:chOff x="0" y="0"/>
            <a:chExt cx="7711097" cy="5707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711098" cy="570795"/>
            </a:xfrm>
            <a:custGeom>
              <a:avLst/>
              <a:gdLst/>
              <a:ahLst/>
              <a:cxnLst/>
              <a:rect l="l" t="t" r="r" b="b"/>
              <a:pathLst>
                <a:path w="7711098" h="570795">
                  <a:moveTo>
                    <a:pt x="0" y="0"/>
                  </a:moveTo>
                  <a:lnTo>
                    <a:pt x="7711098" y="0"/>
                  </a:lnTo>
                  <a:lnTo>
                    <a:pt x="7711098" y="570795"/>
                  </a:lnTo>
                  <a:lnTo>
                    <a:pt x="0" y="570795"/>
                  </a:lnTo>
                  <a:close/>
                </a:path>
              </a:pathLst>
            </a:custGeom>
            <a:solidFill>
              <a:srgbClr val="1800AD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711097" cy="589845"/>
            </a:xfrm>
            <a:prstGeom prst="rect">
              <a:avLst/>
            </a:prstGeom>
          </p:spPr>
          <p:txBody>
            <a:bodyPr lIns="26205" tIns="26205" rIns="26205" bIns="26205" rtlCol="0" anchor="ctr"/>
            <a:lstStyle/>
            <a:p>
              <a:pPr algn="ctr">
                <a:lnSpc>
                  <a:spcPts val="101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2016451" y="7006951"/>
            <a:ext cx="3998045" cy="313443"/>
            <a:chOff x="0" y="0"/>
            <a:chExt cx="2346804" cy="1839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46804" cy="183987"/>
            </a:xfrm>
            <a:custGeom>
              <a:avLst/>
              <a:gdLst/>
              <a:ahLst/>
              <a:cxnLst/>
              <a:rect l="l" t="t" r="r" b="b"/>
              <a:pathLst>
                <a:path w="2346804" h="183987">
                  <a:moveTo>
                    <a:pt x="203200" y="0"/>
                  </a:moveTo>
                  <a:lnTo>
                    <a:pt x="2143604" y="0"/>
                  </a:lnTo>
                  <a:lnTo>
                    <a:pt x="2346804" y="183987"/>
                  </a:lnTo>
                  <a:lnTo>
                    <a:pt x="0" y="18398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27000" y="-38100"/>
              <a:ext cx="2092804" cy="222087"/>
            </a:xfrm>
            <a:prstGeom prst="rect">
              <a:avLst/>
            </a:prstGeom>
          </p:spPr>
          <p:txBody>
            <a:bodyPr lIns="72901" tIns="72901" rIns="72901" bIns="72901" rtlCol="0" anchor="ctr"/>
            <a:lstStyle/>
            <a:p>
              <a:pPr algn="ctr">
                <a:lnSpc>
                  <a:spcPts val="180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799" y="1725825"/>
            <a:ext cx="4432173" cy="2319703"/>
            <a:chOff x="0" y="0"/>
            <a:chExt cx="2579739" cy="135017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8144" y="1657885"/>
            <a:ext cx="135310" cy="135879"/>
            <a:chOff x="0" y="0"/>
            <a:chExt cx="48492" cy="486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8144" y="3977588"/>
            <a:ext cx="135310" cy="135879"/>
            <a:chOff x="0" y="0"/>
            <a:chExt cx="48492" cy="486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000317" y="3977588"/>
            <a:ext cx="135310" cy="135879"/>
            <a:chOff x="0" y="0"/>
            <a:chExt cx="48492" cy="4869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000317" y="1657885"/>
            <a:ext cx="135310" cy="135879"/>
            <a:chOff x="0" y="0"/>
            <a:chExt cx="48492" cy="4869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24028" y="1725216"/>
            <a:ext cx="4432173" cy="2319094"/>
            <a:chOff x="0" y="0"/>
            <a:chExt cx="2579739" cy="134982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56374" y="1656668"/>
            <a:ext cx="135310" cy="137096"/>
            <a:chOff x="0" y="0"/>
            <a:chExt cx="48492" cy="4913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56374" y="3976371"/>
            <a:ext cx="135310" cy="137096"/>
            <a:chOff x="0" y="0"/>
            <a:chExt cx="48492" cy="4913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988546" y="3975154"/>
            <a:ext cx="135310" cy="137096"/>
            <a:chOff x="0" y="0"/>
            <a:chExt cx="48492" cy="4913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988546" y="1656668"/>
            <a:ext cx="135310" cy="137096"/>
            <a:chOff x="0" y="0"/>
            <a:chExt cx="48492" cy="4913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35799" y="4333136"/>
            <a:ext cx="4432173" cy="2319703"/>
            <a:chOff x="0" y="0"/>
            <a:chExt cx="2579739" cy="135017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8144" y="4265196"/>
            <a:ext cx="135310" cy="135879"/>
            <a:chOff x="0" y="0"/>
            <a:chExt cx="48492" cy="4869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8144" y="6584899"/>
            <a:ext cx="135310" cy="135879"/>
            <a:chOff x="0" y="0"/>
            <a:chExt cx="48492" cy="4869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000317" y="6584899"/>
            <a:ext cx="135310" cy="135879"/>
            <a:chOff x="0" y="0"/>
            <a:chExt cx="48492" cy="486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000317" y="4265196"/>
            <a:ext cx="135310" cy="135879"/>
            <a:chOff x="0" y="0"/>
            <a:chExt cx="48492" cy="4869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24028" y="4332527"/>
            <a:ext cx="4432173" cy="2319094"/>
            <a:chOff x="0" y="0"/>
            <a:chExt cx="2579739" cy="134982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556374" y="4263979"/>
            <a:ext cx="135310" cy="137096"/>
            <a:chOff x="0" y="0"/>
            <a:chExt cx="48492" cy="4913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556374" y="6583682"/>
            <a:ext cx="135310" cy="137096"/>
            <a:chOff x="0" y="0"/>
            <a:chExt cx="48492" cy="4913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988546" y="6582465"/>
            <a:ext cx="135310" cy="137096"/>
            <a:chOff x="0" y="0"/>
            <a:chExt cx="48492" cy="4913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988546" y="4263979"/>
            <a:ext cx="135310" cy="137096"/>
            <a:chOff x="0" y="0"/>
            <a:chExt cx="48492" cy="4913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783084" y="233256"/>
            <a:ext cx="7125832" cy="1237675"/>
            <a:chOff x="0" y="0"/>
            <a:chExt cx="2553737" cy="44355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553737" cy="443555"/>
            </a:xfrm>
            <a:custGeom>
              <a:avLst/>
              <a:gdLst/>
              <a:ahLst/>
              <a:cxnLst/>
              <a:rect l="l" t="t" r="r" b="b"/>
              <a:pathLst>
                <a:path w="2553737" h="443555">
                  <a:moveTo>
                    <a:pt x="0" y="0"/>
                  </a:moveTo>
                  <a:lnTo>
                    <a:pt x="2553737" y="0"/>
                  </a:lnTo>
                  <a:lnTo>
                    <a:pt x="2553737" y="443555"/>
                  </a:lnTo>
                  <a:lnTo>
                    <a:pt x="0" y="443555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2553737" cy="481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2180483" y="7030880"/>
            <a:ext cx="169006" cy="173795"/>
            <a:chOff x="0" y="0"/>
            <a:chExt cx="60568" cy="6228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4066114" y="7028958"/>
            <a:ext cx="169006" cy="173795"/>
            <a:chOff x="0" y="0"/>
            <a:chExt cx="60568" cy="6228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856282" y="7033522"/>
            <a:ext cx="169006" cy="173795"/>
            <a:chOff x="0" y="0"/>
            <a:chExt cx="60568" cy="6228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7902207" y="7036159"/>
            <a:ext cx="169006" cy="173795"/>
            <a:chOff x="0" y="0"/>
            <a:chExt cx="60568" cy="62284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sp>
        <p:nvSpPr>
          <p:cNvPr id="98" name="TextBox 98"/>
          <p:cNvSpPr txBox="1"/>
          <p:nvPr/>
        </p:nvSpPr>
        <p:spPr>
          <a:xfrm>
            <a:off x="804338" y="1747356"/>
            <a:ext cx="254513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01 MOLECULAR FORMULA</a:t>
            </a:r>
          </a:p>
        </p:txBody>
      </p:sp>
      <p:sp>
        <p:nvSpPr>
          <p:cNvPr id="99" name="AutoShape 99"/>
          <p:cNvSpPr/>
          <p:nvPr/>
        </p:nvSpPr>
        <p:spPr>
          <a:xfrm flipV="1">
            <a:off x="804338" y="2023581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0" name="AutoShape 100"/>
          <p:cNvSpPr/>
          <p:nvPr/>
        </p:nvSpPr>
        <p:spPr>
          <a:xfrm flipV="1">
            <a:off x="5818849" y="2031889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1" name="AutoShape 101"/>
          <p:cNvSpPr/>
          <p:nvPr/>
        </p:nvSpPr>
        <p:spPr>
          <a:xfrm flipV="1">
            <a:off x="810017" y="4666554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" name="AutoShape 102"/>
          <p:cNvSpPr/>
          <p:nvPr/>
        </p:nvSpPr>
        <p:spPr>
          <a:xfrm flipV="1">
            <a:off x="5818854" y="4655812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" name="Freeform 103"/>
          <p:cNvSpPr/>
          <p:nvPr/>
        </p:nvSpPr>
        <p:spPr>
          <a:xfrm>
            <a:off x="6788899" y="4585749"/>
            <a:ext cx="2483779" cy="2067090"/>
          </a:xfrm>
          <a:custGeom>
            <a:avLst/>
            <a:gdLst/>
            <a:ahLst/>
            <a:cxnLst/>
            <a:rect l="l" t="t" r="r" b="b"/>
            <a:pathLst>
              <a:path w="2483779" h="2067090">
                <a:moveTo>
                  <a:pt x="0" y="0"/>
                </a:moveTo>
                <a:lnTo>
                  <a:pt x="2483779" y="0"/>
                </a:lnTo>
                <a:lnTo>
                  <a:pt x="2483779" y="2067090"/>
                </a:lnTo>
                <a:lnTo>
                  <a:pt x="0" y="2067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0" r="-3060"/>
            </a:stretch>
          </a:blipFill>
        </p:spPr>
      </p:sp>
      <p:sp>
        <p:nvSpPr>
          <p:cNvPr id="104" name="Freeform 104"/>
          <p:cNvSpPr/>
          <p:nvPr/>
        </p:nvSpPr>
        <p:spPr>
          <a:xfrm>
            <a:off x="6755407" y="1881540"/>
            <a:ext cx="2293600" cy="2293600"/>
          </a:xfrm>
          <a:custGeom>
            <a:avLst/>
            <a:gdLst/>
            <a:ahLst/>
            <a:cxnLst/>
            <a:rect l="l" t="t" r="r" b="b"/>
            <a:pathLst>
              <a:path w="2293600" h="2293600">
                <a:moveTo>
                  <a:pt x="0" y="0"/>
                </a:moveTo>
                <a:lnTo>
                  <a:pt x="2293600" y="0"/>
                </a:lnTo>
                <a:lnTo>
                  <a:pt x="2293600" y="2293600"/>
                </a:lnTo>
                <a:lnTo>
                  <a:pt x="0" y="2293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5" name="TextBox 105"/>
          <p:cNvSpPr txBox="1"/>
          <p:nvPr/>
        </p:nvSpPr>
        <p:spPr>
          <a:xfrm>
            <a:off x="0" y="7068086"/>
            <a:ext cx="1849079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7"/>
              </a:lnSpc>
            </a:pPr>
            <a:r>
              <a:rPr lang="en-US" sz="1612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Verification Strip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349489" y="6995035"/>
            <a:ext cx="1408955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atom count verified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291227" y="6992784"/>
            <a:ext cx="1137986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valence checked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066038" y="6985510"/>
            <a:ext cx="1489980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bond order checked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109269" y="6981333"/>
            <a:ext cx="2108023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same connectivity confirmed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2957876" y="359583"/>
            <a:ext cx="5072913" cy="524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2"/>
              </a:lnSpc>
            </a:pPr>
            <a:r>
              <a:rPr lang="en-US" sz="2959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07 </a:t>
            </a:r>
            <a:r>
              <a:rPr lang="en-US" sz="295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| CYCLOHEXANONE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5818843" y="1746139"/>
            <a:ext cx="216786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02 LEWIS STRUCTURE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804333" y="4353450"/>
            <a:ext cx="384065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03 CONDENSED STRUCTURAL FORMULA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818849" y="4353450"/>
            <a:ext cx="267704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04 BOND LINE STRUCTURE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4144363" y="823231"/>
            <a:ext cx="2487080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IUPAC Name:</a:t>
            </a:r>
            <a:r>
              <a:rPr lang="en-US" sz="1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Cyclohexanone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961084" y="2575459"/>
            <a:ext cx="1758876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C₆H₁₀O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59854" y="5088845"/>
            <a:ext cx="4608117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Cyclic –CO–(CH₂)₅–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008177" y="1065097"/>
            <a:ext cx="2677045" cy="2369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 dirty="0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Molecular Formula:</a:t>
            </a:r>
            <a:r>
              <a:rPr lang="en-US" sz="1400" dirty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C₆H₁₀O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523589" y="5722569"/>
            <a:ext cx="2736707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 i="1">
                <a:solidFill>
                  <a:srgbClr val="545454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(ring containing one carbonyl carbon and five CH₂ groups)</a:t>
            </a:r>
          </a:p>
        </p:txBody>
      </p:sp>
      <p:sp>
        <p:nvSpPr>
          <p:cNvPr id="119" name="Freeform 119"/>
          <p:cNvSpPr/>
          <p:nvPr/>
        </p:nvSpPr>
        <p:spPr>
          <a:xfrm>
            <a:off x="2180483" y="7046811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0" name="Freeform 120"/>
          <p:cNvSpPr/>
          <p:nvPr/>
        </p:nvSpPr>
        <p:spPr>
          <a:xfrm>
            <a:off x="4066114" y="7044174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0"/>
                </a:lnTo>
                <a:lnTo>
                  <a:pt x="0" y="1524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1" name="Freeform 121"/>
          <p:cNvSpPr/>
          <p:nvPr/>
        </p:nvSpPr>
        <p:spPr>
          <a:xfrm>
            <a:off x="5856282" y="7050502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2" name="Freeform 122"/>
          <p:cNvSpPr/>
          <p:nvPr/>
        </p:nvSpPr>
        <p:spPr>
          <a:xfrm>
            <a:off x="7902207" y="7050502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589" y="7128836"/>
            <a:ext cx="9476471" cy="267567"/>
            <a:chOff x="0" y="0"/>
            <a:chExt cx="3396153" cy="95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6153" cy="95890"/>
            </a:xfrm>
            <a:custGeom>
              <a:avLst/>
              <a:gdLst/>
              <a:ahLst/>
              <a:cxnLst/>
              <a:rect l="l" t="t" r="r" b="b"/>
              <a:pathLst>
                <a:path w="3396153" h="95890">
                  <a:moveTo>
                    <a:pt x="0" y="0"/>
                  </a:moveTo>
                  <a:lnTo>
                    <a:pt x="3396153" y="0"/>
                  </a:lnTo>
                  <a:lnTo>
                    <a:pt x="3396153" y="95890"/>
                  </a:lnTo>
                  <a:lnTo>
                    <a:pt x="0" y="9589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96153" cy="133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81286" y="6914001"/>
            <a:ext cx="1695142" cy="506827"/>
            <a:chOff x="0" y="0"/>
            <a:chExt cx="986654" cy="2949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86654" cy="294998"/>
            </a:xfrm>
            <a:custGeom>
              <a:avLst/>
              <a:gdLst/>
              <a:ahLst/>
              <a:cxnLst/>
              <a:rect l="l" t="t" r="r" b="b"/>
              <a:pathLst>
                <a:path w="986654" h="294998">
                  <a:moveTo>
                    <a:pt x="0" y="0"/>
                  </a:moveTo>
                  <a:lnTo>
                    <a:pt x="986654" y="0"/>
                  </a:lnTo>
                  <a:lnTo>
                    <a:pt x="986654" y="294998"/>
                  </a:lnTo>
                  <a:lnTo>
                    <a:pt x="0" y="29499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86654" cy="30452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80082" y="6914001"/>
            <a:ext cx="1855425" cy="469297"/>
            <a:chOff x="0" y="0"/>
            <a:chExt cx="1079947" cy="2731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947" cy="273154"/>
            </a:xfrm>
            <a:custGeom>
              <a:avLst/>
              <a:gdLst/>
              <a:ahLst/>
              <a:cxnLst/>
              <a:rect l="l" t="t" r="r" b="b"/>
              <a:pathLst>
                <a:path w="1079947" h="273154">
                  <a:moveTo>
                    <a:pt x="0" y="0"/>
                  </a:moveTo>
                  <a:lnTo>
                    <a:pt x="1079947" y="0"/>
                  </a:lnTo>
                  <a:lnTo>
                    <a:pt x="1079947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79947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35532" y="6914001"/>
            <a:ext cx="2457309" cy="469297"/>
            <a:chOff x="0" y="0"/>
            <a:chExt cx="1430273" cy="2731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30273" cy="273154"/>
            </a:xfrm>
            <a:custGeom>
              <a:avLst/>
              <a:gdLst/>
              <a:ahLst/>
              <a:cxnLst/>
              <a:rect l="l" t="t" r="r" b="b"/>
              <a:pathLst>
                <a:path w="1430273" h="273154">
                  <a:moveTo>
                    <a:pt x="0" y="0"/>
                  </a:moveTo>
                  <a:lnTo>
                    <a:pt x="1430273" y="0"/>
                  </a:lnTo>
                  <a:lnTo>
                    <a:pt x="1430273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430273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78098" y="6906516"/>
            <a:ext cx="1516234" cy="484269"/>
            <a:chOff x="0" y="0"/>
            <a:chExt cx="882522" cy="2818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2522" cy="281868"/>
            </a:xfrm>
            <a:custGeom>
              <a:avLst/>
              <a:gdLst/>
              <a:ahLst/>
              <a:cxnLst/>
              <a:rect l="l" t="t" r="r" b="b"/>
              <a:pathLst>
                <a:path w="882522" h="281868">
                  <a:moveTo>
                    <a:pt x="0" y="0"/>
                  </a:moveTo>
                  <a:lnTo>
                    <a:pt x="882522" y="0"/>
                  </a:lnTo>
                  <a:lnTo>
                    <a:pt x="882522" y="281868"/>
                  </a:lnTo>
                  <a:lnTo>
                    <a:pt x="0" y="28186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882522" cy="29139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203695" y="7298929"/>
            <a:ext cx="11099389" cy="821606"/>
            <a:chOff x="0" y="0"/>
            <a:chExt cx="7711097" cy="5707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711098" cy="570795"/>
            </a:xfrm>
            <a:custGeom>
              <a:avLst/>
              <a:gdLst/>
              <a:ahLst/>
              <a:cxnLst/>
              <a:rect l="l" t="t" r="r" b="b"/>
              <a:pathLst>
                <a:path w="7711098" h="570795">
                  <a:moveTo>
                    <a:pt x="0" y="0"/>
                  </a:moveTo>
                  <a:lnTo>
                    <a:pt x="7711098" y="0"/>
                  </a:lnTo>
                  <a:lnTo>
                    <a:pt x="7711098" y="570795"/>
                  </a:lnTo>
                  <a:lnTo>
                    <a:pt x="0" y="570795"/>
                  </a:lnTo>
                  <a:close/>
                </a:path>
              </a:pathLst>
            </a:custGeom>
            <a:solidFill>
              <a:srgbClr val="1800AD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711097" cy="589845"/>
            </a:xfrm>
            <a:prstGeom prst="rect">
              <a:avLst/>
            </a:prstGeom>
          </p:spPr>
          <p:txBody>
            <a:bodyPr lIns="26205" tIns="26205" rIns="26205" bIns="26205" rtlCol="0" anchor="ctr"/>
            <a:lstStyle/>
            <a:p>
              <a:pPr algn="ctr">
                <a:lnSpc>
                  <a:spcPts val="101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2016451" y="7006951"/>
            <a:ext cx="3998045" cy="313443"/>
            <a:chOff x="0" y="0"/>
            <a:chExt cx="2346804" cy="1839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46804" cy="183987"/>
            </a:xfrm>
            <a:custGeom>
              <a:avLst/>
              <a:gdLst/>
              <a:ahLst/>
              <a:cxnLst/>
              <a:rect l="l" t="t" r="r" b="b"/>
              <a:pathLst>
                <a:path w="2346804" h="183987">
                  <a:moveTo>
                    <a:pt x="203200" y="0"/>
                  </a:moveTo>
                  <a:lnTo>
                    <a:pt x="2143604" y="0"/>
                  </a:lnTo>
                  <a:lnTo>
                    <a:pt x="2346804" y="183987"/>
                  </a:lnTo>
                  <a:lnTo>
                    <a:pt x="0" y="18398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27000" y="-38100"/>
              <a:ext cx="2092804" cy="222087"/>
            </a:xfrm>
            <a:prstGeom prst="rect">
              <a:avLst/>
            </a:prstGeom>
          </p:spPr>
          <p:txBody>
            <a:bodyPr lIns="72901" tIns="72901" rIns="72901" bIns="72901" rtlCol="0" anchor="ctr"/>
            <a:lstStyle/>
            <a:p>
              <a:pPr algn="ctr">
                <a:lnSpc>
                  <a:spcPts val="180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799" y="1725825"/>
            <a:ext cx="4432173" cy="2319703"/>
            <a:chOff x="0" y="0"/>
            <a:chExt cx="2579739" cy="135017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8144" y="1657885"/>
            <a:ext cx="135310" cy="135879"/>
            <a:chOff x="0" y="0"/>
            <a:chExt cx="48492" cy="486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8144" y="3977588"/>
            <a:ext cx="135310" cy="135879"/>
            <a:chOff x="0" y="0"/>
            <a:chExt cx="48492" cy="486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000317" y="3977588"/>
            <a:ext cx="135310" cy="135879"/>
            <a:chOff x="0" y="0"/>
            <a:chExt cx="48492" cy="4869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000317" y="1657885"/>
            <a:ext cx="135310" cy="135879"/>
            <a:chOff x="0" y="0"/>
            <a:chExt cx="48492" cy="4869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24028" y="1725216"/>
            <a:ext cx="4432173" cy="2319094"/>
            <a:chOff x="0" y="0"/>
            <a:chExt cx="2579739" cy="134982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56374" y="1656668"/>
            <a:ext cx="135310" cy="137096"/>
            <a:chOff x="0" y="0"/>
            <a:chExt cx="48492" cy="4913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56374" y="3976371"/>
            <a:ext cx="135310" cy="137096"/>
            <a:chOff x="0" y="0"/>
            <a:chExt cx="48492" cy="4913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988546" y="3975154"/>
            <a:ext cx="135310" cy="137096"/>
            <a:chOff x="0" y="0"/>
            <a:chExt cx="48492" cy="4913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988546" y="1656668"/>
            <a:ext cx="135310" cy="137096"/>
            <a:chOff x="0" y="0"/>
            <a:chExt cx="48492" cy="4913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35799" y="4333136"/>
            <a:ext cx="4432173" cy="2319703"/>
            <a:chOff x="0" y="0"/>
            <a:chExt cx="2579739" cy="135017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8144" y="4265196"/>
            <a:ext cx="135310" cy="135879"/>
            <a:chOff x="0" y="0"/>
            <a:chExt cx="48492" cy="4869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8144" y="6584899"/>
            <a:ext cx="135310" cy="135879"/>
            <a:chOff x="0" y="0"/>
            <a:chExt cx="48492" cy="4869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000317" y="6584899"/>
            <a:ext cx="135310" cy="135879"/>
            <a:chOff x="0" y="0"/>
            <a:chExt cx="48492" cy="486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000317" y="4265196"/>
            <a:ext cx="135310" cy="135879"/>
            <a:chOff x="0" y="0"/>
            <a:chExt cx="48492" cy="4869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24028" y="4332527"/>
            <a:ext cx="4432173" cy="2319094"/>
            <a:chOff x="0" y="0"/>
            <a:chExt cx="2579739" cy="134982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556374" y="4263979"/>
            <a:ext cx="135310" cy="137096"/>
            <a:chOff x="0" y="0"/>
            <a:chExt cx="48492" cy="4913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556374" y="6583682"/>
            <a:ext cx="135310" cy="137096"/>
            <a:chOff x="0" y="0"/>
            <a:chExt cx="48492" cy="4913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988546" y="6582465"/>
            <a:ext cx="135310" cy="137096"/>
            <a:chOff x="0" y="0"/>
            <a:chExt cx="48492" cy="4913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988546" y="4263979"/>
            <a:ext cx="135310" cy="137096"/>
            <a:chOff x="0" y="0"/>
            <a:chExt cx="48492" cy="4913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783084" y="233256"/>
            <a:ext cx="7125832" cy="1237675"/>
            <a:chOff x="0" y="0"/>
            <a:chExt cx="2553737" cy="44355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553737" cy="443555"/>
            </a:xfrm>
            <a:custGeom>
              <a:avLst/>
              <a:gdLst/>
              <a:ahLst/>
              <a:cxnLst/>
              <a:rect l="l" t="t" r="r" b="b"/>
              <a:pathLst>
                <a:path w="2553737" h="443555">
                  <a:moveTo>
                    <a:pt x="0" y="0"/>
                  </a:moveTo>
                  <a:lnTo>
                    <a:pt x="2553737" y="0"/>
                  </a:lnTo>
                  <a:lnTo>
                    <a:pt x="2553737" y="443555"/>
                  </a:lnTo>
                  <a:lnTo>
                    <a:pt x="0" y="443555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2553737" cy="481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2180483" y="7030880"/>
            <a:ext cx="169006" cy="173795"/>
            <a:chOff x="0" y="0"/>
            <a:chExt cx="60568" cy="6228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4066114" y="7028958"/>
            <a:ext cx="169006" cy="173795"/>
            <a:chOff x="0" y="0"/>
            <a:chExt cx="60568" cy="6228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856282" y="7033522"/>
            <a:ext cx="169006" cy="173795"/>
            <a:chOff x="0" y="0"/>
            <a:chExt cx="60568" cy="6228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7902207" y="7036159"/>
            <a:ext cx="169006" cy="173795"/>
            <a:chOff x="0" y="0"/>
            <a:chExt cx="60568" cy="62284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sp>
        <p:nvSpPr>
          <p:cNvPr id="98" name="TextBox 98"/>
          <p:cNvSpPr txBox="1"/>
          <p:nvPr/>
        </p:nvSpPr>
        <p:spPr>
          <a:xfrm>
            <a:off x="804338" y="1747356"/>
            <a:ext cx="256398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01 MOLECULAR FORMULA</a:t>
            </a:r>
          </a:p>
        </p:txBody>
      </p:sp>
      <p:sp>
        <p:nvSpPr>
          <p:cNvPr id="99" name="AutoShape 99"/>
          <p:cNvSpPr/>
          <p:nvPr/>
        </p:nvSpPr>
        <p:spPr>
          <a:xfrm flipV="1">
            <a:off x="804338" y="2023581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0" name="AutoShape 100"/>
          <p:cNvSpPr/>
          <p:nvPr/>
        </p:nvSpPr>
        <p:spPr>
          <a:xfrm flipV="1">
            <a:off x="5818849" y="2031889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1" name="AutoShape 101"/>
          <p:cNvSpPr/>
          <p:nvPr/>
        </p:nvSpPr>
        <p:spPr>
          <a:xfrm flipV="1">
            <a:off x="810017" y="4666554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" name="AutoShape 102"/>
          <p:cNvSpPr/>
          <p:nvPr/>
        </p:nvSpPr>
        <p:spPr>
          <a:xfrm flipV="1">
            <a:off x="5818854" y="4655812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" name="Freeform 103"/>
          <p:cNvSpPr/>
          <p:nvPr/>
        </p:nvSpPr>
        <p:spPr>
          <a:xfrm>
            <a:off x="5856282" y="4712962"/>
            <a:ext cx="3980332" cy="1873809"/>
          </a:xfrm>
          <a:custGeom>
            <a:avLst/>
            <a:gdLst/>
            <a:ahLst/>
            <a:cxnLst/>
            <a:rect l="l" t="t" r="r" b="b"/>
            <a:pathLst>
              <a:path w="3980332" h="1873809">
                <a:moveTo>
                  <a:pt x="0" y="0"/>
                </a:moveTo>
                <a:lnTo>
                  <a:pt x="3980333" y="0"/>
                </a:lnTo>
                <a:lnTo>
                  <a:pt x="3980333" y="1873809"/>
                </a:lnTo>
                <a:lnTo>
                  <a:pt x="0" y="187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4" name="Freeform 104"/>
          <p:cNvSpPr/>
          <p:nvPr/>
        </p:nvSpPr>
        <p:spPr>
          <a:xfrm>
            <a:off x="6065010" y="1886352"/>
            <a:ext cx="3541043" cy="2225898"/>
          </a:xfrm>
          <a:custGeom>
            <a:avLst/>
            <a:gdLst/>
            <a:ahLst/>
            <a:cxnLst/>
            <a:rect l="l" t="t" r="r" b="b"/>
            <a:pathLst>
              <a:path w="3541043" h="2225898">
                <a:moveTo>
                  <a:pt x="0" y="0"/>
                </a:moveTo>
                <a:lnTo>
                  <a:pt x="3541044" y="0"/>
                </a:lnTo>
                <a:lnTo>
                  <a:pt x="3541044" y="2225898"/>
                </a:lnTo>
                <a:lnTo>
                  <a:pt x="0" y="2225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8006" b="-31076"/>
            </a:stretch>
          </a:blipFill>
        </p:spPr>
      </p:sp>
      <p:sp>
        <p:nvSpPr>
          <p:cNvPr id="105" name="TextBox 105"/>
          <p:cNvSpPr txBox="1"/>
          <p:nvPr/>
        </p:nvSpPr>
        <p:spPr>
          <a:xfrm>
            <a:off x="-44018" y="7055201"/>
            <a:ext cx="1849079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7"/>
              </a:lnSpc>
            </a:pPr>
            <a:r>
              <a:rPr lang="en-US" sz="1612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Verification Strip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349489" y="6995035"/>
            <a:ext cx="1408955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atom count verified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291227" y="6992784"/>
            <a:ext cx="1137986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valence checked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066038" y="6985510"/>
            <a:ext cx="1489980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bond order checked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109269" y="6981333"/>
            <a:ext cx="2108023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same connectivity confirmed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2876229" y="350058"/>
            <a:ext cx="4939543" cy="524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2"/>
              </a:lnSpc>
            </a:pPr>
            <a:r>
              <a:rPr lang="en-US" sz="2959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08</a:t>
            </a:r>
            <a:r>
              <a:rPr lang="en-US" sz="295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| ACETAMINOPHEN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5818843" y="1746139"/>
            <a:ext cx="216786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02 LEWIS STRUCTURE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804333" y="4353450"/>
            <a:ext cx="384065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03 CONDENSED STRUCTURAL FORMULA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818849" y="4353450"/>
            <a:ext cx="267704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04 BOND LINE STRUCTURE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871040" y="813993"/>
            <a:ext cx="6769576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Accepted Name:</a:t>
            </a:r>
            <a:r>
              <a:rPr lang="en-US" sz="1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Paracetamol | </a:t>
            </a:r>
            <a:r>
              <a:rPr lang="en-US" sz="14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IUPAC Name:</a:t>
            </a:r>
            <a:r>
              <a:rPr lang="en-US" sz="1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N-(4-hydroxyphenyl)acetamide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564421" y="2555891"/>
            <a:ext cx="2623616" cy="655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C₈H₉NO₂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794371" y="5151063"/>
            <a:ext cx="4115029" cy="598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6"/>
              </a:lnSpc>
            </a:pPr>
            <a:r>
              <a:rPr lang="en-US" sz="3397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p-HOC₆H₄NHCOCH₃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144363" y="1070881"/>
            <a:ext cx="246107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Molecular Formula:</a:t>
            </a:r>
            <a:r>
              <a:rPr lang="en-US" sz="1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C₈H₉NO₂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952536" y="5772874"/>
            <a:ext cx="3783679" cy="391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 i="1">
                <a:solidFill>
                  <a:srgbClr val="545454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The “p-” indicates that the OH and NHCOCH₃ substituents are opposite each other on the benzene ring (para positions).</a:t>
            </a:r>
          </a:p>
        </p:txBody>
      </p:sp>
      <p:sp>
        <p:nvSpPr>
          <p:cNvPr id="119" name="Freeform 119"/>
          <p:cNvSpPr/>
          <p:nvPr/>
        </p:nvSpPr>
        <p:spPr>
          <a:xfrm>
            <a:off x="2180483" y="7046811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0" name="Freeform 120"/>
          <p:cNvSpPr/>
          <p:nvPr/>
        </p:nvSpPr>
        <p:spPr>
          <a:xfrm>
            <a:off x="4066114" y="7041532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0"/>
                </a:lnTo>
                <a:lnTo>
                  <a:pt x="0" y="1524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1" name="Freeform 121"/>
          <p:cNvSpPr/>
          <p:nvPr/>
        </p:nvSpPr>
        <p:spPr>
          <a:xfrm>
            <a:off x="5856282" y="7044174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0"/>
                </a:lnTo>
                <a:lnTo>
                  <a:pt x="0" y="1524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2" name="Freeform 122"/>
          <p:cNvSpPr/>
          <p:nvPr/>
        </p:nvSpPr>
        <p:spPr>
          <a:xfrm>
            <a:off x="7902207" y="7052591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0"/>
                </a:lnTo>
                <a:lnTo>
                  <a:pt x="0" y="1524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589" y="7128836"/>
            <a:ext cx="9476471" cy="267567"/>
            <a:chOff x="0" y="0"/>
            <a:chExt cx="3396153" cy="95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6153" cy="95890"/>
            </a:xfrm>
            <a:custGeom>
              <a:avLst/>
              <a:gdLst/>
              <a:ahLst/>
              <a:cxnLst/>
              <a:rect l="l" t="t" r="r" b="b"/>
              <a:pathLst>
                <a:path w="3396153" h="95890">
                  <a:moveTo>
                    <a:pt x="0" y="0"/>
                  </a:moveTo>
                  <a:lnTo>
                    <a:pt x="3396153" y="0"/>
                  </a:lnTo>
                  <a:lnTo>
                    <a:pt x="3396153" y="95890"/>
                  </a:lnTo>
                  <a:lnTo>
                    <a:pt x="0" y="9589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96153" cy="133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81286" y="6914001"/>
            <a:ext cx="1695142" cy="506827"/>
            <a:chOff x="0" y="0"/>
            <a:chExt cx="986654" cy="2949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86654" cy="294998"/>
            </a:xfrm>
            <a:custGeom>
              <a:avLst/>
              <a:gdLst/>
              <a:ahLst/>
              <a:cxnLst/>
              <a:rect l="l" t="t" r="r" b="b"/>
              <a:pathLst>
                <a:path w="986654" h="294998">
                  <a:moveTo>
                    <a:pt x="0" y="0"/>
                  </a:moveTo>
                  <a:lnTo>
                    <a:pt x="986654" y="0"/>
                  </a:lnTo>
                  <a:lnTo>
                    <a:pt x="986654" y="294998"/>
                  </a:lnTo>
                  <a:lnTo>
                    <a:pt x="0" y="29499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86654" cy="30452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80082" y="6914001"/>
            <a:ext cx="1855425" cy="469297"/>
            <a:chOff x="0" y="0"/>
            <a:chExt cx="1079947" cy="2731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947" cy="273154"/>
            </a:xfrm>
            <a:custGeom>
              <a:avLst/>
              <a:gdLst/>
              <a:ahLst/>
              <a:cxnLst/>
              <a:rect l="l" t="t" r="r" b="b"/>
              <a:pathLst>
                <a:path w="1079947" h="273154">
                  <a:moveTo>
                    <a:pt x="0" y="0"/>
                  </a:moveTo>
                  <a:lnTo>
                    <a:pt x="1079947" y="0"/>
                  </a:lnTo>
                  <a:lnTo>
                    <a:pt x="1079947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79947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35532" y="6914001"/>
            <a:ext cx="2457309" cy="469297"/>
            <a:chOff x="0" y="0"/>
            <a:chExt cx="1430273" cy="2731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30273" cy="273154"/>
            </a:xfrm>
            <a:custGeom>
              <a:avLst/>
              <a:gdLst/>
              <a:ahLst/>
              <a:cxnLst/>
              <a:rect l="l" t="t" r="r" b="b"/>
              <a:pathLst>
                <a:path w="1430273" h="273154">
                  <a:moveTo>
                    <a:pt x="0" y="0"/>
                  </a:moveTo>
                  <a:lnTo>
                    <a:pt x="1430273" y="0"/>
                  </a:lnTo>
                  <a:lnTo>
                    <a:pt x="1430273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430273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78098" y="6906516"/>
            <a:ext cx="1516234" cy="484269"/>
            <a:chOff x="0" y="0"/>
            <a:chExt cx="882522" cy="2818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2522" cy="281868"/>
            </a:xfrm>
            <a:custGeom>
              <a:avLst/>
              <a:gdLst/>
              <a:ahLst/>
              <a:cxnLst/>
              <a:rect l="l" t="t" r="r" b="b"/>
              <a:pathLst>
                <a:path w="882522" h="281868">
                  <a:moveTo>
                    <a:pt x="0" y="0"/>
                  </a:moveTo>
                  <a:lnTo>
                    <a:pt x="882522" y="0"/>
                  </a:lnTo>
                  <a:lnTo>
                    <a:pt x="882522" y="281868"/>
                  </a:lnTo>
                  <a:lnTo>
                    <a:pt x="0" y="28186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882522" cy="29139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203695" y="7298929"/>
            <a:ext cx="11099389" cy="821606"/>
            <a:chOff x="0" y="0"/>
            <a:chExt cx="7711097" cy="5707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711098" cy="570795"/>
            </a:xfrm>
            <a:custGeom>
              <a:avLst/>
              <a:gdLst/>
              <a:ahLst/>
              <a:cxnLst/>
              <a:rect l="l" t="t" r="r" b="b"/>
              <a:pathLst>
                <a:path w="7711098" h="570795">
                  <a:moveTo>
                    <a:pt x="0" y="0"/>
                  </a:moveTo>
                  <a:lnTo>
                    <a:pt x="7711098" y="0"/>
                  </a:lnTo>
                  <a:lnTo>
                    <a:pt x="7711098" y="570795"/>
                  </a:lnTo>
                  <a:lnTo>
                    <a:pt x="0" y="570795"/>
                  </a:lnTo>
                  <a:close/>
                </a:path>
              </a:pathLst>
            </a:custGeom>
            <a:solidFill>
              <a:srgbClr val="1800AD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711097" cy="589845"/>
            </a:xfrm>
            <a:prstGeom prst="rect">
              <a:avLst/>
            </a:prstGeom>
          </p:spPr>
          <p:txBody>
            <a:bodyPr lIns="26205" tIns="26205" rIns="26205" bIns="26205" rtlCol="0" anchor="ctr"/>
            <a:lstStyle/>
            <a:p>
              <a:pPr algn="ctr">
                <a:lnSpc>
                  <a:spcPts val="101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2016451" y="7006951"/>
            <a:ext cx="3998045" cy="313443"/>
            <a:chOff x="0" y="0"/>
            <a:chExt cx="2346804" cy="1839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46804" cy="183987"/>
            </a:xfrm>
            <a:custGeom>
              <a:avLst/>
              <a:gdLst/>
              <a:ahLst/>
              <a:cxnLst/>
              <a:rect l="l" t="t" r="r" b="b"/>
              <a:pathLst>
                <a:path w="2346804" h="183987">
                  <a:moveTo>
                    <a:pt x="203200" y="0"/>
                  </a:moveTo>
                  <a:lnTo>
                    <a:pt x="2143604" y="0"/>
                  </a:lnTo>
                  <a:lnTo>
                    <a:pt x="2346804" y="183987"/>
                  </a:lnTo>
                  <a:lnTo>
                    <a:pt x="0" y="18398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27000" y="-38100"/>
              <a:ext cx="2092804" cy="222087"/>
            </a:xfrm>
            <a:prstGeom prst="rect">
              <a:avLst/>
            </a:prstGeom>
          </p:spPr>
          <p:txBody>
            <a:bodyPr lIns="72901" tIns="72901" rIns="72901" bIns="72901" rtlCol="0" anchor="ctr"/>
            <a:lstStyle/>
            <a:p>
              <a:pPr algn="ctr">
                <a:lnSpc>
                  <a:spcPts val="180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799" y="1725825"/>
            <a:ext cx="4432173" cy="2319703"/>
            <a:chOff x="0" y="0"/>
            <a:chExt cx="2579739" cy="135017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8144" y="1657885"/>
            <a:ext cx="135310" cy="135879"/>
            <a:chOff x="0" y="0"/>
            <a:chExt cx="48492" cy="486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8144" y="3977588"/>
            <a:ext cx="135310" cy="135879"/>
            <a:chOff x="0" y="0"/>
            <a:chExt cx="48492" cy="486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000317" y="3977588"/>
            <a:ext cx="135310" cy="135879"/>
            <a:chOff x="0" y="0"/>
            <a:chExt cx="48492" cy="4869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000317" y="1657885"/>
            <a:ext cx="135310" cy="135879"/>
            <a:chOff x="0" y="0"/>
            <a:chExt cx="48492" cy="4869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24028" y="1725216"/>
            <a:ext cx="4432173" cy="2319094"/>
            <a:chOff x="0" y="0"/>
            <a:chExt cx="2579739" cy="134982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56374" y="1656668"/>
            <a:ext cx="135310" cy="137096"/>
            <a:chOff x="0" y="0"/>
            <a:chExt cx="48492" cy="4913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56374" y="3976371"/>
            <a:ext cx="135310" cy="137096"/>
            <a:chOff x="0" y="0"/>
            <a:chExt cx="48492" cy="4913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988546" y="3975154"/>
            <a:ext cx="135310" cy="137096"/>
            <a:chOff x="0" y="0"/>
            <a:chExt cx="48492" cy="4913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988546" y="1656668"/>
            <a:ext cx="135310" cy="137096"/>
            <a:chOff x="0" y="0"/>
            <a:chExt cx="48492" cy="4913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35799" y="4333136"/>
            <a:ext cx="4432173" cy="2319703"/>
            <a:chOff x="0" y="0"/>
            <a:chExt cx="2579739" cy="135017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8144" y="4265196"/>
            <a:ext cx="135310" cy="135879"/>
            <a:chOff x="0" y="0"/>
            <a:chExt cx="48492" cy="4869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8144" y="6584899"/>
            <a:ext cx="135310" cy="135879"/>
            <a:chOff x="0" y="0"/>
            <a:chExt cx="48492" cy="4869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000317" y="6584899"/>
            <a:ext cx="135310" cy="135879"/>
            <a:chOff x="0" y="0"/>
            <a:chExt cx="48492" cy="486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000317" y="4265196"/>
            <a:ext cx="135310" cy="135879"/>
            <a:chOff x="0" y="0"/>
            <a:chExt cx="48492" cy="4869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24028" y="4332527"/>
            <a:ext cx="4432173" cy="2319094"/>
            <a:chOff x="0" y="0"/>
            <a:chExt cx="2579739" cy="134982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556374" y="4263979"/>
            <a:ext cx="135310" cy="137096"/>
            <a:chOff x="0" y="0"/>
            <a:chExt cx="48492" cy="4913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556374" y="6583682"/>
            <a:ext cx="135310" cy="137096"/>
            <a:chOff x="0" y="0"/>
            <a:chExt cx="48492" cy="4913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988546" y="6582465"/>
            <a:ext cx="135310" cy="137096"/>
            <a:chOff x="0" y="0"/>
            <a:chExt cx="48492" cy="4913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988546" y="4263979"/>
            <a:ext cx="135310" cy="137096"/>
            <a:chOff x="0" y="0"/>
            <a:chExt cx="48492" cy="4913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783084" y="233256"/>
            <a:ext cx="7125832" cy="1237675"/>
            <a:chOff x="0" y="0"/>
            <a:chExt cx="2553737" cy="44355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553737" cy="443555"/>
            </a:xfrm>
            <a:custGeom>
              <a:avLst/>
              <a:gdLst/>
              <a:ahLst/>
              <a:cxnLst/>
              <a:rect l="l" t="t" r="r" b="b"/>
              <a:pathLst>
                <a:path w="2553737" h="443555">
                  <a:moveTo>
                    <a:pt x="0" y="0"/>
                  </a:moveTo>
                  <a:lnTo>
                    <a:pt x="2553737" y="0"/>
                  </a:lnTo>
                  <a:lnTo>
                    <a:pt x="2553737" y="443555"/>
                  </a:lnTo>
                  <a:lnTo>
                    <a:pt x="0" y="443555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2553737" cy="481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2180483" y="7030880"/>
            <a:ext cx="169006" cy="173795"/>
            <a:chOff x="0" y="0"/>
            <a:chExt cx="60568" cy="6228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4066114" y="7028958"/>
            <a:ext cx="169006" cy="173795"/>
            <a:chOff x="0" y="0"/>
            <a:chExt cx="60568" cy="6228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856282" y="7033522"/>
            <a:ext cx="169006" cy="173795"/>
            <a:chOff x="0" y="0"/>
            <a:chExt cx="60568" cy="6228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7902207" y="7036159"/>
            <a:ext cx="169006" cy="173795"/>
            <a:chOff x="0" y="0"/>
            <a:chExt cx="60568" cy="62284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sp>
        <p:nvSpPr>
          <p:cNvPr id="98" name="TextBox 98"/>
          <p:cNvSpPr txBox="1"/>
          <p:nvPr/>
        </p:nvSpPr>
        <p:spPr>
          <a:xfrm>
            <a:off x="804338" y="1747356"/>
            <a:ext cx="256398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01 MOLECULAR FORMULA</a:t>
            </a:r>
          </a:p>
        </p:txBody>
      </p:sp>
      <p:sp>
        <p:nvSpPr>
          <p:cNvPr id="99" name="AutoShape 99"/>
          <p:cNvSpPr/>
          <p:nvPr/>
        </p:nvSpPr>
        <p:spPr>
          <a:xfrm flipV="1">
            <a:off x="804338" y="2023581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0" name="AutoShape 100"/>
          <p:cNvSpPr/>
          <p:nvPr/>
        </p:nvSpPr>
        <p:spPr>
          <a:xfrm flipV="1">
            <a:off x="5818849" y="2031889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1" name="AutoShape 101"/>
          <p:cNvSpPr/>
          <p:nvPr/>
        </p:nvSpPr>
        <p:spPr>
          <a:xfrm flipV="1">
            <a:off x="810017" y="4666554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" name="AutoShape 102"/>
          <p:cNvSpPr/>
          <p:nvPr/>
        </p:nvSpPr>
        <p:spPr>
          <a:xfrm flipV="1">
            <a:off x="5818854" y="4655812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" name="Freeform 103"/>
          <p:cNvSpPr/>
          <p:nvPr/>
        </p:nvSpPr>
        <p:spPr>
          <a:xfrm>
            <a:off x="6375168" y="2036652"/>
            <a:ext cx="3223083" cy="1975538"/>
          </a:xfrm>
          <a:custGeom>
            <a:avLst/>
            <a:gdLst/>
            <a:ahLst/>
            <a:cxnLst/>
            <a:rect l="l" t="t" r="r" b="b"/>
            <a:pathLst>
              <a:path w="3223083" h="1975538">
                <a:moveTo>
                  <a:pt x="0" y="0"/>
                </a:moveTo>
                <a:lnTo>
                  <a:pt x="3223083" y="0"/>
                </a:lnTo>
                <a:lnTo>
                  <a:pt x="3223083" y="1975538"/>
                </a:lnTo>
                <a:lnTo>
                  <a:pt x="0" y="1975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4" name="Freeform 104"/>
          <p:cNvSpPr/>
          <p:nvPr/>
        </p:nvSpPr>
        <p:spPr>
          <a:xfrm>
            <a:off x="6526591" y="4629675"/>
            <a:ext cx="2751232" cy="2077754"/>
          </a:xfrm>
          <a:custGeom>
            <a:avLst/>
            <a:gdLst/>
            <a:ahLst/>
            <a:cxnLst/>
            <a:rect l="l" t="t" r="r" b="b"/>
            <a:pathLst>
              <a:path w="2751232" h="2077754">
                <a:moveTo>
                  <a:pt x="0" y="0"/>
                </a:moveTo>
                <a:lnTo>
                  <a:pt x="2751232" y="0"/>
                </a:lnTo>
                <a:lnTo>
                  <a:pt x="2751232" y="2077754"/>
                </a:lnTo>
                <a:lnTo>
                  <a:pt x="0" y="2077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5" name="TextBox 105"/>
          <p:cNvSpPr txBox="1"/>
          <p:nvPr/>
        </p:nvSpPr>
        <p:spPr>
          <a:xfrm>
            <a:off x="-44018" y="7055201"/>
            <a:ext cx="1849079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7"/>
              </a:lnSpc>
            </a:pPr>
            <a:r>
              <a:rPr lang="en-US" sz="1612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Verification Strip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349489" y="6995035"/>
            <a:ext cx="1408955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atom count verified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291227" y="6992784"/>
            <a:ext cx="1137986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valence checked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066038" y="6985510"/>
            <a:ext cx="1489980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bond order checked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109269" y="6981333"/>
            <a:ext cx="2108023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same connectivity confirmed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2876229" y="350058"/>
            <a:ext cx="4939543" cy="524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2"/>
              </a:lnSpc>
            </a:pPr>
            <a:r>
              <a:rPr lang="en-US" sz="2959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09</a:t>
            </a:r>
            <a:r>
              <a:rPr lang="en-US" sz="295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| ASPIRIN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5818843" y="1746139"/>
            <a:ext cx="216786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02 LEWIS STRUCTURE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804333" y="4353450"/>
            <a:ext cx="384065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03 CONDENSED STRUCTURAL FORMULA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818849" y="4353450"/>
            <a:ext cx="267704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04 BOND LINE STRUCTURE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961084" y="813993"/>
            <a:ext cx="6769576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Accepted Name:</a:t>
            </a:r>
            <a:r>
              <a:rPr lang="en-US" sz="1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Acetylsalicylic acid | </a:t>
            </a:r>
            <a:r>
              <a:rPr lang="en-US" sz="14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IUPAC Name:</a:t>
            </a:r>
            <a:r>
              <a:rPr lang="en-US" sz="1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2-(acetyloxy)benzoic acid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961084" y="2575459"/>
            <a:ext cx="1758876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C₉H₈O₄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945461" y="5209479"/>
            <a:ext cx="3861535" cy="566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3"/>
              </a:lnSpc>
            </a:pPr>
            <a:r>
              <a:rPr lang="en-US" sz="3188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CH₃COOC₆H₄COOH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174364" y="1054053"/>
            <a:ext cx="2343272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Molecular Formula:</a:t>
            </a:r>
            <a:r>
              <a:rPr lang="en-US" sz="1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C₉H₈O₄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498413" y="5756987"/>
            <a:ext cx="2736707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 i="1">
                <a:solidFill>
                  <a:srgbClr val="545454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(ortho-substituted benzene ring)</a:t>
            </a:r>
          </a:p>
        </p:txBody>
      </p:sp>
      <p:sp>
        <p:nvSpPr>
          <p:cNvPr id="119" name="Freeform 119"/>
          <p:cNvSpPr/>
          <p:nvPr/>
        </p:nvSpPr>
        <p:spPr>
          <a:xfrm>
            <a:off x="2180483" y="7046811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0" name="Freeform 120"/>
          <p:cNvSpPr/>
          <p:nvPr/>
        </p:nvSpPr>
        <p:spPr>
          <a:xfrm>
            <a:off x="4075344" y="7046811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1" name="Freeform 121"/>
          <p:cNvSpPr/>
          <p:nvPr/>
        </p:nvSpPr>
        <p:spPr>
          <a:xfrm>
            <a:off x="5865807" y="7044174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0"/>
                </a:lnTo>
                <a:lnTo>
                  <a:pt x="0" y="1524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2" name="Freeform 122"/>
          <p:cNvSpPr/>
          <p:nvPr/>
        </p:nvSpPr>
        <p:spPr>
          <a:xfrm>
            <a:off x="7902207" y="7052184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589" y="7128836"/>
            <a:ext cx="9476471" cy="267567"/>
            <a:chOff x="0" y="0"/>
            <a:chExt cx="3396153" cy="95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6153" cy="95890"/>
            </a:xfrm>
            <a:custGeom>
              <a:avLst/>
              <a:gdLst/>
              <a:ahLst/>
              <a:cxnLst/>
              <a:rect l="l" t="t" r="r" b="b"/>
              <a:pathLst>
                <a:path w="3396153" h="95890">
                  <a:moveTo>
                    <a:pt x="0" y="0"/>
                  </a:moveTo>
                  <a:lnTo>
                    <a:pt x="3396153" y="0"/>
                  </a:lnTo>
                  <a:lnTo>
                    <a:pt x="3396153" y="95890"/>
                  </a:lnTo>
                  <a:lnTo>
                    <a:pt x="0" y="9589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96153" cy="133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81286" y="6914001"/>
            <a:ext cx="1695142" cy="506827"/>
            <a:chOff x="0" y="0"/>
            <a:chExt cx="986654" cy="2949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86654" cy="294998"/>
            </a:xfrm>
            <a:custGeom>
              <a:avLst/>
              <a:gdLst/>
              <a:ahLst/>
              <a:cxnLst/>
              <a:rect l="l" t="t" r="r" b="b"/>
              <a:pathLst>
                <a:path w="986654" h="294998">
                  <a:moveTo>
                    <a:pt x="0" y="0"/>
                  </a:moveTo>
                  <a:lnTo>
                    <a:pt x="986654" y="0"/>
                  </a:lnTo>
                  <a:lnTo>
                    <a:pt x="986654" y="294998"/>
                  </a:lnTo>
                  <a:lnTo>
                    <a:pt x="0" y="29499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86654" cy="30452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80082" y="6914001"/>
            <a:ext cx="1855425" cy="469297"/>
            <a:chOff x="0" y="0"/>
            <a:chExt cx="1079947" cy="2731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947" cy="273154"/>
            </a:xfrm>
            <a:custGeom>
              <a:avLst/>
              <a:gdLst/>
              <a:ahLst/>
              <a:cxnLst/>
              <a:rect l="l" t="t" r="r" b="b"/>
              <a:pathLst>
                <a:path w="1079947" h="273154">
                  <a:moveTo>
                    <a:pt x="0" y="0"/>
                  </a:moveTo>
                  <a:lnTo>
                    <a:pt x="1079947" y="0"/>
                  </a:lnTo>
                  <a:lnTo>
                    <a:pt x="1079947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79947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35532" y="6914001"/>
            <a:ext cx="2457309" cy="469297"/>
            <a:chOff x="0" y="0"/>
            <a:chExt cx="1430273" cy="2731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30273" cy="273154"/>
            </a:xfrm>
            <a:custGeom>
              <a:avLst/>
              <a:gdLst/>
              <a:ahLst/>
              <a:cxnLst/>
              <a:rect l="l" t="t" r="r" b="b"/>
              <a:pathLst>
                <a:path w="1430273" h="273154">
                  <a:moveTo>
                    <a:pt x="0" y="0"/>
                  </a:moveTo>
                  <a:lnTo>
                    <a:pt x="1430273" y="0"/>
                  </a:lnTo>
                  <a:lnTo>
                    <a:pt x="1430273" y="273154"/>
                  </a:lnTo>
                  <a:lnTo>
                    <a:pt x="0" y="27315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430273" cy="282679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78098" y="6906516"/>
            <a:ext cx="1516234" cy="484269"/>
            <a:chOff x="0" y="0"/>
            <a:chExt cx="882522" cy="2818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2522" cy="281868"/>
            </a:xfrm>
            <a:custGeom>
              <a:avLst/>
              <a:gdLst/>
              <a:ahLst/>
              <a:cxnLst/>
              <a:rect l="l" t="t" r="r" b="b"/>
              <a:pathLst>
                <a:path w="882522" h="281868">
                  <a:moveTo>
                    <a:pt x="0" y="0"/>
                  </a:moveTo>
                  <a:lnTo>
                    <a:pt x="882522" y="0"/>
                  </a:lnTo>
                  <a:lnTo>
                    <a:pt x="882522" y="281868"/>
                  </a:lnTo>
                  <a:lnTo>
                    <a:pt x="0" y="28186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882522" cy="291393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203695" y="7298929"/>
            <a:ext cx="11099389" cy="821606"/>
            <a:chOff x="0" y="0"/>
            <a:chExt cx="7711097" cy="5707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711098" cy="570795"/>
            </a:xfrm>
            <a:custGeom>
              <a:avLst/>
              <a:gdLst/>
              <a:ahLst/>
              <a:cxnLst/>
              <a:rect l="l" t="t" r="r" b="b"/>
              <a:pathLst>
                <a:path w="7711098" h="570795">
                  <a:moveTo>
                    <a:pt x="0" y="0"/>
                  </a:moveTo>
                  <a:lnTo>
                    <a:pt x="7711098" y="0"/>
                  </a:lnTo>
                  <a:lnTo>
                    <a:pt x="7711098" y="570795"/>
                  </a:lnTo>
                  <a:lnTo>
                    <a:pt x="0" y="570795"/>
                  </a:lnTo>
                  <a:close/>
                </a:path>
              </a:pathLst>
            </a:custGeom>
            <a:solidFill>
              <a:srgbClr val="1800AD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711097" cy="589845"/>
            </a:xfrm>
            <a:prstGeom prst="rect">
              <a:avLst/>
            </a:prstGeom>
          </p:spPr>
          <p:txBody>
            <a:bodyPr lIns="26205" tIns="26205" rIns="26205" bIns="26205" rtlCol="0" anchor="ctr"/>
            <a:lstStyle/>
            <a:p>
              <a:pPr algn="ctr">
                <a:lnSpc>
                  <a:spcPts val="101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2016451" y="7006951"/>
            <a:ext cx="3998045" cy="313443"/>
            <a:chOff x="0" y="0"/>
            <a:chExt cx="2346804" cy="1839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46804" cy="183987"/>
            </a:xfrm>
            <a:custGeom>
              <a:avLst/>
              <a:gdLst/>
              <a:ahLst/>
              <a:cxnLst/>
              <a:rect l="l" t="t" r="r" b="b"/>
              <a:pathLst>
                <a:path w="2346804" h="183987">
                  <a:moveTo>
                    <a:pt x="203200" y="0"/>
                  </a:moveTo>
                  <a:lnTo>
                    <a:pt x="2143604" y="0"/>
                  </a:lnTo>
                  <a:lnTo>
                    <a:pt x="2346804" y="183987"/>
                  </a:lnTo>
                  <a:lnTo>
                    <a:pt x="0" y="18398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27000" y="-38100"/>
              <a:ext cx="2092804" cy="222087"/>
            </a:xfrm>
            <a:prstGeom prst="rect">
              <a:avLst/>
            </a:prstGeom>
          </p:spPr>
          <p:txBody>
            <a:bodyPr lIns="72901" tIns="72901" rIns="72901" bIns="72901" rtlCol="0" anchor="ctr"/>
            <a:lstStyle/>
            <a:p>
              <a:pPr algn="ctr">
                <a:lnSpc>
                  <a:spcPts val="180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799" y="1725825"/>
            <a:ext cx="4432173" cy="2319703"/>
            <a:chOff x="0" y="0"/>
            <a:chExt cx="2579739" cy="135017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8144" y="1657885"/>
            <a:ext cx="135310" cy="135879"/>
            <a:chOff x="0" y="0"/>
            <a:chExt cx="48492" cy="486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8144" y="3977588"/>
            <a:ext cx="135310" cy="135879"/>
            <a:chOff x="0" y="0"/>
            <a:chExt cx="48492" cy="486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000317" y="3977588"/>
            <a:ext cx="135310" cy="135879"/>
            <a:chOff x="0" y="0"/>
            <a:chExt cx="48492" cy="4869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000317" y="1657885"/>
            <a:ext cx="135310" cy="135879"/>
            <a:chOff x="0" y="0"/>
            <a:chExt cx="48492" cy="4869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24028" y="1725216"/>
            <a:ext cx="4432173" cy="2319094"/>
            <a:chOff x="0" y="0"/>
            <a:chExt cx="2579739" cy="134982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56374" y="1656668"/>
            <a:ext cx="135310" cy="137096"/>
            <a:chOff x="0" y="0"/>
            <a:chExt cx="48492" cy="4913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56374" y="3976371"/>
            <a:ext cx="135310" cy="137096"/>
            <a:chOff x="0" y="0"/>
            <a:chExt cx="48492" cy="4913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988546" y="3975154"/>
            <a:ext cx="135310" cy="137096"/>
            <a:chOff x="0" y="0"/>
            <a:chExt cx="48492" cy="4913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988546" y="1656668"/>
            <a:ext cx="135310" cy="137096"/>
            <a:chOff x="0" y="0"/>
            <a:chExt cx="48492" cy="4913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35799" y="4333136"/>
            <a:ext cx="4432173" cy="2319703"/>
            <a:chOff x="0" y="0"/>
            <a:chExt cx="2579739" cy="135017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579739" cy="1350179"/>
            </a:xfrm>
            <a:custGeom>
              <a:avLst/>
              <a:gdLst/>
              <a:ahLst/>
              <a:cxnLst/>
              <a:rect l="l" t="t" r="r" b="b"/>
              <a:pathLst>
                <a:path w="2579739" h="1350179">
                  <a:moveTo>
                    <a:pt x="0" y="0"/>
                  </a:moveTo>
                  <a:lnTo>
                    <a:pt x="2579739" y="0"/>
                  </a:lnTo>
                  <a:lnTo>
                    <a:pt x="2579739" y="1350179"/>
                  </a:lnTo>
                  <a:lnTo>
                    <a:pt x="0" y="1350179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2579739" cy="1359704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8144" y="4265196"/>
            <a:ext cx="135310" cy="135879"/>
            <a:chOff x="0" y="0"/>
            <a:chExt cx="48492" cy="4869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8144" y="6584899"/>
            <a:ext cx="135310" cy="135879"/>
            <a:chOff x="0" y="0"/>
            <a:chExt cx="48492" cy="4869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000317" y="6584899"/>
            <a:ext cx="135310" cy="135879"/>
            <a:chOff x="0" y="0"/>
            <a:chExt cx="48492" cy="486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000317" y="4265196"/>
            <a:ext cx="135310" cy="135879"/>
            <a:chOff x="0" y="0"/>
            <a:chExt cx="48492" cy="4869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8492" cy="48696"/>
            </a:xfrm>
            <a:custGeom>
              <a:avLst/>
              <a:gdLst/>
              <a:ahLst/>
              <a:cxnLst/>
              <a:rect l="l" t="t" r="r" b="b"/>
              <a:pathLst>
                <a:path w="48492" h="48696">
                  <a:moveTo>
                    <a:pt x="0" y="0"/>
                  </a:moveTo>
                  <a:lnTo>
                    <a:pt x="48492" y="0"/>
                  </a:lnTo>
                  <a:lnTo>
                    <a:pt x="48492" y="48696"/>
                  </a:lnTo>
                  <a:lnTo>
                    <a:pt x="0" y="486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48492" cy="86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24028" y="4332527"/>
            <a:ext cx="4432173" cy="2319094"/>
            <a:chOff x="0" y="0"/>
            <a:chExt cx="2579739" cy="134982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579739" cy="1349825"/>
            </a:xfrm>
            <a:custGeom>
              <a:avLst/>
              <a:gdLst/>
              <a:ahLst/>
              <a:cxnLst/>
              <a:rect l="l" t="t" r="r" b="b"/>
              <a:pathLst>
                <a:path w="2579739" h="1349825">
                  <a:moveTo>
                    <a:pt x="0" y="0"/>
                  </a:moveTo>
                  <a:lnTo>
                    <a:pt x="2579739" y="0"/>
                  </a:lnTo>
                  <a:lnTo>
                    <a:pt x="2579739" y="1349825"/>
                  </a:lnTo>
                  <a:lnTo>
                    <a:pt x="0" y="1349825"/>
                  </a:lnTo>
                  <a:close/>
                </a:path>
              </a:pathLst>
            </a:custGeom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2579739" cy="1359350"/>
            </a:xfrm>
            <a:prstGeom prst="rect">
              <a:avLst/>
            </a:prstGeom>
          </p:spPr>
          <p:txBody>
            <a:bodyPr lIns="62557" tIns="62557" rIns="62557" bIns="62557" rtlCol="0" anchor="ctr"/>
            <a:lstStyle/>
            <a:p>
              <a:pPr algn="ctr">
                <a:lnSpc>
                  <a:spcPts val="853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556374" y="4263979"/>
            <a:ext cx="135310" cy="137096"/>
            <a:chOff x="0" y="0"/>
            <a:chExt cx="48492" cy="4913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556374" y="6583682"/>
            <a:ext cx="135310" cy="137096"/>
            <a:chOff x="0" y="0"/>
            <a:chExt cx="48492" cy="4913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988546" y="6582465"/>
            <a:ext cx="135310" cy="137096"/>
            <a:chOff x="0" y="0"/>
            <a:chExt cx="48492" cy="4913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988546" y="4263979"/>
            <a:ext cx="135310" cy="137096"/>
            <a:chOff x="0" y="0"/>
            <a:chExt cx="48492" cy="4913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8492" cy="49132"/>
            </a:xfrm>
            <a:custGeom>
              <a:avLst/>
              <a:gdLst/>
              <a:ahLst/>
              <a:cxnLst/>
              <a:rect l="l" t="t" r="r" b="b"/>
              <a:pathLst>
                <a:path w="48492" h="49132">
                  <a:moveTo>
                    <a:pt x="0" y="0"/>
                  </a:moveTo>
                  <a:lnTo>
                    <a:pt x="48492" y="0"/>
                  </a:lnTo>
                  <a:lnTo>
                    <a:pt x="48492" y="49132"/>
                  </a:lnTo>
                  <a:lnTo>
                    <a:pt x="0" y="4913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48492" cy="87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783084" y="232651"/>
            <a:ext cx="7125832" cy="1237675"/>
            <a:chOff x="0" y="0"/>
            <a:chExt cx="2553737" cy="44355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553737" cy="443555"/>
            </a:xfrm>
            <a:custGeom>
              <a:avLst/>
              <a:gdLst/>
              <a:ahLst/>
              <a:cxnLst/>
              <a:rect l="l" t="t" r="r" b="b"/>
              <a:pathLst>
                <a:path w="2553737" h="443555">
                  <a:moveTo>
                    <a:pt x="0" y="0"/>
                  </a:moveTo>
                  <a:lnTo>
                    <a:pt x="2553737" y="0"/>
                  </a:lnTo>
                  <a:lnTo>
                    <a:pt x="2553737" y="443555"/>
                  </a:lnTo>
                  <a:lnTo>
                    <a:pt x="0" y="443555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2553737" cy="481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2180483" y="7030880"/>
            <a:ext cx="169006" cy="173795"/>
            <a:chOff x="0" y="0"/>
            <a:chExt cx="60568" cy="6228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4066114" y="7028958"/>
            <a:ext cx="169006" cy="173795"/>
            <a:chOff x="0" y="0"/>
            <a:chExt cx="60568" cy="6228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856282" y="7033522"/>
            <a:ext cx="169006" cy="173795"/>
            <a:chOff x="0" y="0"/>
            <a:chExt cx="60568" cy="6228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7902207" y="7036159"/>
            <a:ext cx="169006" cy="173795"/>
            <a:chOff x="0" y="0"/>
            <a:chExt cx="60568" cy="62284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0568" cy="62284"/>
            </a:xfrm>
            <a:custGeom>
              <a:avLst/>
              <a:gdLst/>
              <a:ahLst/>
              <a:cxnLst/>
              <a:rect l="l" t="t" r="r" b="b"/>
              <a:pathLst>
                <a:path w="60568" h="62284">
                  <a:moveTo>
                    <a:pt x="0" y="0"/>
                  </a:moveTo>
                  <a:lnTo>
                    <a:pt x="60568" y="0"/>
                  </a:lnTo>
                  <a:lnTo>
                    <a:pt x="60568" y="62284"/>
                  </a:lnTo>
                  <a:lnTo>
                    <a:pt x="0" y="62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60568" cy="100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8"/>
                </a:lnSpc>
              </a:pPr>
              <a:endParaRPr/>
            </a:p>
          </p:txBody>
        </p:sp>
      </p:grpSp>
      <p:sp>
        <p:nvSpPr>
          <p:cNvPr id="98" name="TextBox 98"/>
          <p:cNvSpPr txBox="1"/>
          <p:nvPr/>
        </p:nvSpPr>
        <p:spPr>
          <a:xfrm>
            <a:off x="804338" y="1747356"/>
            <a:ext cx="256398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01 MOLECULAR FORMULA</a:t>
            </a:r>
          </a:p>
        </p:txBody>
      </p:sp>
      <p:sp>
        <p:nvSpPr>
          <p:cNvPr id="99" name="AutoShape 99"/>
          <p:cNvSpPr/>
          <p:nvPr/>
        </p:nvSpPr>
        <p:spPr>
          <a:xfrm flipV="1">
            <a:off x="804338" y="2023581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0" name="AutoShape 100"/>
          <p:cNvSpPr/>
          <p:nvPr/>
        </p:nvSpPr>
        <p:spPr>
          <a:xfrm flipV="1">
            <a:off x="5818849" y="2031889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1" name="AutoShape 101"/>
          <p:cNvSpPr/>
          <p:nvPr/>
        </p:nvSpPr>
        <p:spPr>
          <a:xfrm flipV="1">
            <a:off x="810017" y="4666554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" name="AutoShape 102"/>
          <p:cNvSpPr/>
          <p:nvPr/>
        </p:nvSpPr>
        <p:spPr>
          <a:xfrm flipV="1">
            <a:off x="5818854" y="4655812"/>
            <a:ext cx="4061012" cy="4762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" name="Freeform 103"/>
          <p:cNvSpPr/>
          <p:nvPr/>
        </p:nvSpPr>
        <p:spPr>
          <a:xfrm>
            <a:off x="6777474" y="2073221"/>
            <a:ext cx="2249465" cy="1975538"/>
          </a:xfrm>
          <a:custGeom>
            <a:avLst/>
            <a:gdLst/>
            <a:ahLst/>
            <a:cxnLst/>
            <a:rect l="l" t="t" r="r" b="b"/>
            <a:pathLst>
              <a:path w="2249465" h="1975538">
                <a:moveTo>
                  <a:pt x="0" y="0"/>
                </a:moveTo>
                <a:lnTo>
                  <a:pt x="2249466" y="0"/>
                </a:lnTo>
                <a:lnTo>
                  <a:pt x="2249466" y="1975538"/>
                </a:lnTo>
                <a:lnTo>
                  <a:pt x="0" y="1975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301" b="-6564"/>
            </a:stretch>
          </a:blipFill>
        </p:spPr>
      </p:sp>
      <p:sp>
        <p:nvSpPr>
          <p:cNvPr id="104" name="Freeform 104"/>
          <p:cNvSpPr/>
          <p:nvPr/>
        </p:nvSpPr>
        <p:spPr>
          <a:xfrm>
            <a:off x="6585147" y="4640417"/>
            <a:ext cx="2634120" cy="2080361"/>
          </a:xfrm>
          <a:custGeom>
            <a:avLst/>
            <a:gdLst/>
            <a:ahLst/>
            <a:cxnLst/>
            <a:rect l="l" t="t" r="r" b="b"/>
            <a:pathLst>
              <a:path w="2634120" h="2080361">
                <a:moveTo>
                  <a:pt x="0" y="0"/>
                </a:moveTo>
                <a:lnTo>
                  <a:pt x="2634120" y="0"/>
                </a:lnTo>
                <a:lnTo>
                  <a:pt x="2634120" y="2080361"/>
                </a:lnTo>
                <a:lnTo>
                  <a:pt x="0" y="2080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979"/>
            </a:stretch>
          </a:blipFill>
        </p:spPr>
      </p:sp>
      <p:sp>
        <p:nvSpPr>
          <p:cNvPr id="105" name="Freeform 105"/>
          <p:cNvSpPr/>
          <p:nvPr/>
        </p:nvSpPr>
        <p:spPr>
          <a:xfrm>
            <a:off x="2180483" y="7046811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6" name="TextBox 106"/>
          <p:cNvSpPr txBox="1"/>
          <p:nvPr/>
        </p:nvSpPr>
        <p:spPr>
          <a:xfrm>
            <a:off x="-44018" y="7055201"/>
            <a:ext cx="1849079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7"/>
              </a:lnSpc>
            </a:pPr>
            <a:r>
              <a:rPr lang="en-US" sz="1612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Verification Strip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2349489" y="6995035"/>
            <a:ext cx="1408955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atom count verified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4291227" y="6992784"/>
            <a:ext cx="1137986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valence checked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6066038" y="6985510"/>
            <a:ext cx="1489980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bond order checked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8109269" y="6981333"/>
            <a:ext cx="2108023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same connectivity confirmed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2876229" y="350058"/>
            <a:ext cx="4939543" cy="524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2"/>
              </a:lnSpc>
            </a:pPr>
            <a:r>
              <a:rPr lang="en-US" sz="2959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10</a:t>
            </a:r>
            <a:r>
              <a:rPr lang="en-US" sz="295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| CAFFEINE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5818843" y="1746139"/>
            <a:ext cx="216786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02 LEWIS STRUCTURE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804333" y="4353450"/>
            <a:ext cx="384065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03 CONDENSED STRUCTURAL FORMULA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5818849" y="4353450"/>
            <a:ext cx="267704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1800A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04 BOND LINE STRUCTURE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3514528" y="813388"/>
            <a:ext cx="3662944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lang="en-US" sz="14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IUPAC Name:</a:t>
            </a:r>
            <a:r>
              <a:rPr lang="en-US" sz="1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1,3,7-trimethylpurine-2,6-dione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492999" y="2612910"/>
            <a:ext cx="2683689" cy="655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C₈H₁₀N₄O₂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3655173" y="1046917"/>
            <a:ext cx="3381654" cy="245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 dirty="0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Molecular Formula:</a:t>
            </a:r>
            <a:r>
              <a:rPr lang="en-US" sz="1400" dirty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C₈H₁₀N₄O₂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703454" y="5219004"/>
            <a:ext cx="4263395" cy="500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5"/>
              </a:lnSpc>
            </a:pPr>
            <a:r>
              <a:rPr lang="en-US" sz="2789" dirty="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(CH₃)₃C₅HN₄O₂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830655" y="5842089"/>
            <a:ext cx="3905560" cy="24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 i="1">
                <a:solidFill>
                  <a:srgbClr val="545454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(Fused-ring structure; see bond-line representation.)</a:t>
            </a:r>
          </a:p>
        </p:txBody>
      </p:sp>
      <p:sp>
        <p:nvSpPr>
          <p:cNvPr id="120" name="Freeform 120"/>
          <p:cNvSpPr/>
          <p:nvPr/>
        </p:nvSpPr>
        <p:spPr>
          <a:xfrm>
            <a:off x="4066114" y="7041532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0"/>
                </a:lnTo>
                <a:lnTo>
                  <a:pt x="0" y="1524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1" name="Freeform 121"/>
          <p:cNvSpPr/>
          <p:nvPr/>
        </p:nvSpPr>
        <p:spPr>
          <a:xfrm>
            <a:off x="5856282" y="7050502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2" name="Freeform 122"/>
          <p:cNvSpPr/>
          <p:nvPr/>
        </p:nvSpPr>
        <p:spPr>
          <a:xfrm>
            <a:off x="7902207" y="7050502"/>
            <a:ext cx="198040" cy="152491"/>
          </a:xfrm>
          <a:custGeom>
            <a:avLst/>
            <a:gdLst/>
            <a:ahLst/>
            <a:cxnLst/>
            <a:rect l="l" t="t" r="r" b="b"/>
            <a:pathLst>
              <a:path w="198040" h="152491">
                <a:moveTo>
                  <a:pt x="0" y="0"/>
                </a:moveTo>
                <a:lnTo>
                  <a:pt x="198040" y="0"/>
                </a:lnTo>
                <a:lnTo>
                  <a:pt x="198040" y="152491"/>
                </a:lnTo>
                <a:lnTo>
                  <a:pt x="0" y="15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627</Words>
  <Application>Microsoft Office PowerPoint</Application>
  <PresentationFormat>Custom</PresentationFormat>
  <Paragraphs>145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Helvetica Bold</vt:lpstr>
      <vt:lpstr>Helvetica Italics</vt:lpstr>
      <vt:lpstr>Helvetica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CHEM 13 ASYNCH ACT 2</dc:title>
  <dc:creator>User</dc:creator>
  <cp:lastModifiedBy>Bernice Rebanal</cp:lastModifiedBy>
  <cp:revision>2</cp:revision>
  <dcterms:created xsi:type="dcterms:W3CDTF">2006-08-16T00:00:00Z</dcterms:created>
  <dcterms:modified xsi:type="dcterms:W3CDTF">2026-10-24T09:52:12Z</dcterms:modified>
  <dc:identifier>DAHY1KNv7ZE</dc:identifier>
</cp:coreProperties>
</file>